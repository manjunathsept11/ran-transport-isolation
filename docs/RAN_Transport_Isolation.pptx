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One-liner: rank transport-impacted sites and separate transport vs RAN causes, with explainable evidence. Built on synthetic data now; live feeds in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 case straight from the brief. Outputs: a ranked dashboard, an exportable audit shortlist, and per-site root-cause +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the same user-visible symptom can be radio or transport, and each goes to a different team with a different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pain points the module removes.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feeds and what each contributes. The N3 probe's client-vs-server RTT split is the key one for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identical for synthetic and live data; only the source and the cadence change. The dashboard never runs analytics inline - it reads serving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tests. Any one alone is weak; together they give a class plus a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on purpose: it is the only way to measure attribution accuracy. The causal model makes the correlations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generation stages and the 3-tier tree topology. Shared uplinks are what make transport faults have a clean blast radius.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Tabular ML (LightGBM) not deep learning - fast retrain, handles missing data, and a technician can audit it via SHAP and the rule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Screens: Market Overview and the ranked Priority Sites grid with the audit-list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 Detail: the explainability surface - rule evidence, SHAP bars, radio-vs-transport panels, and (demo) the true injected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Incidents / RCA: anomaly clusters localised to a link with a matched-ground-truth badge and a recommended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personas, one shared workflow. The tool turns a multi-team, multi-day analysis into a six-click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Packaging, the control surface (Settings page), and the common gotchas - for the tool's output and for running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Module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sites, nodes and transport paths most impacted by transport-network problems — and tell you which are transport vs RAN, with the evidence.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Transport Analytics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48006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Analytics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48006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Audit Prioritisation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build  ·  standalone web app  ·  github.com/manjunathsept11/ran-transport-isolation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69880" y="1755648"/>
            <a:ext cx="-731520" cy="530352"/>
          </a:xfrm>
          <a:prstGeom prst="line">
            <a:avLst/>
          </a:prstGeom>
          <a:noFill/>
          <a:ln w="15875">
            <a:solidFill>
              <a:srgbClr val="3141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9880" y="1755648"/>
            <a:ext cx="91440" cy="530352"/>
          </a:xfrm>
          <a:prstGeom prst="line">
            <a:avLst/>
          </a:prstGeom>
          <a:noFill/>
          <a:ln w="15875">
            <a:solidFill>
              <a:srgbClr val="314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69880" y="1755648"/>
            <a:ext cx="914400" cy="530352"/>
          </a:xfrm>
          <a:prstGeom prst="line">
            <a:avLst/>
          </a:prstGeom>
          <a:noFill/>
          <a:ln w="15875">
            <a:solidFill>
              <a:srgbClr val="3141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2670048"/>
            <a:ext cx="548640" cy="713232"/>
          </a:xfrm>
          <a:prstGeom prst="line">
            <a:avLst/>
          </a:prstGeom>
          <a:noFill/>
          <a:ln w="12700">
            <a:solidFill>
              <a:srgbClr val="3141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670048"/>
            <a:ext cx="0" cy="713232"/>
          </a:xfrm>
          <a:prstGeom prst="line">
            <a:avLst/>
          </a:prstGeom>
          <a:noFill/>
          <a:ln w="12700">
            <a:solidFill>
              <a:srgbClr val="3141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84280" y="2670048"/>
            <a:ext cx="-548640" cy="713232"/>
          </a:xfrm>
          <a:prstGeom prst="line">
            <a:avLst/>
          </a:prstGeom>
          <a:noFill/>
          <a:ln w="12700">
            <a:solidFill>
              <a:srgbClr val="314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13716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66960" y="1371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72600" y="228600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72600" y="2286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195560" y="228600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95560" y="2286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018520" y="228600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018520" y="2286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72600" y="3383280"/>
            <a:ext cx="228600" cy="320040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86900" y="3703320"/>
            <a:ext cx="0" cy="160020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59468" y="3319272"/>
            <a:ext cx="54864" cy="54864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1" name="Shape 29"/>
          <p:cNvSpPr/>
          <p:nvPr/>
        </p:nvSpPr>
        <p:spPr>
          <a:xfrm>
            <a:off x="9774936" y="3383280"/>
            <a:ext cx="228600" cy="320040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89236" y="3703320"/>
            <a:ext cx="0" cy="160020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61804" y="3319272"/>
            <a:ext cx="54864" cy="54864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77272" y="3383280"/>
            <a:ext cx="228600" cy="320040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1572" y="3703320"/>
            <a:ext cx="0" cy="160020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64140" y="3319272"/>
            <a:ext cx="54864" cy="54864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79608" y="3383280"/>
            <a:ext cx="228600" cy="320040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93908" y="3703320"/>
            <a:ext cx="0" cy="160020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66476" y="3319272"/>
            <a:ext cx="54864" cy="54864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981944" y="3383280"/>
            <a:ext cx="228600" cy="320040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96244" y="3703320"/>
            <a:ext cx="0" cy="160020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68812" y="3319272"/>
            <a:ext cx="54864" cy="54864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3" name="Shape 41"/>
          <p:cNvSpPr/>
          <p:nvPr/>
        </p:nvSpPr>
        <p:spPr>
          <a:xfrm>
            <a:off x="11384280" y="3383280"/>
            <a:ext cx="228600" cy="320040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98580" y="3703320"/>
            <a:ext cx="0" cy="160020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71148" y="3319272"/>
            <a:ext cx="54864" cy="54864"/>
          </a:xfrm>
          <a:prstGeom prst="ellipse">
            <a:avLst/>
          </a:prstGeom>
          <a:solidFill>
            <a:srgbClr val="F2822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experience with transport — then rank and attribute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and correlate end-user experience metrics with transport-layer telemetry to identify and rank the sites, nodes and transport paths most impacted — and separate transport-attributed impairment from RAN-attributed impairment using serving-cell context and radio signal quality.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1280160" cy="1371600"/>
          </a:xfrm>
          <a:prstGeom prst="roundRect">
            <a:avLst>
              <a:gd name="adj" fmla="val 6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389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feeds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4297680"/>
            <a:ext cx="1280160" cy="1371600"/>
          </a:xfrm>
          <a:prstGeom prst="roundRect">
            <a:avLst>
              <a:gd name="adj" fmla="val 6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4389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5029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4297680"/>
            <a:ext cx="1280160" cy="1371600"/>
          </a:xfrm>
          <a:prstGeom prst="roundRect">
            <a:avLst>
              <a:gd name="adj" fmla="val 6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4389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75–100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5029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for the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audit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4297680"/>
            <a:ext cx="1280160" cy="1371600"/>
          </a:xfrm>
          <a:prstGeom prst="roundRect">
            <a:avLst>
              <a:gd name="adj" fmla="val 6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4389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5029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in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1783080"/>
            <a:ext cx="4892040" cy="3886200"/>
          </a:xfrm>
          <a:prstGeom prst="roundRect">
            <a:avLst>
              <a:gd name="adj" fmla="val 2118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468880"/>
            <a:ext cx="4343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analytics dashboard ranking sites, nodes and transport paths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KPIs: TCP RTT, TCP Fail %, Ookla throughput, VoNR MOS, YouTube QoE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list of the top 75–100 sites for a Phase-2 field audit (CSV / Excel)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root-cause indicators and a recommended technician action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Transport-attributed impairment distinguished from RAN-attributed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complain. Whose problem is it?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2331720"/>
            <a:ext cx="457200" cy="640080"/>
          </a:xfrm>
          <a:prstGeom prst="triangle">
            <a:avLst/>
          </a:prstGeom>
          <a:ln w="25400">
            <a:solidFill>
              <a:srgbClr val="56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971800"/>
            <a:ext cx="0" cy="320040"/>
          </a:xfrm>
          <a:prstGeom prst="line">
            <a:avLst/>
          </a:prstGeom>
          <a:noFill/>
          <a:ln w="25400">
            <a:solidFill>
              <a:srgbClr val="56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34056" y="2203704"/>
            <a:ext cx="109728" cy="109728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860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331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85292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8529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2377440"/>
            <a:ext cx="1371600" cy="868680"/>
          </a:xfrm>
          <a:prstGeom prst="ellipse">
            <a:avLst/>
          </a:prstGeom>
          <a:solidFill>
            <a:srgbClr val="223251"/>
          </a:solidFill>
          <a:ln w="15875">
            <a:solidFill>
              <a:srgbClr val="97A5B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83080" y="2761488"/>
            <a:ext cx="1965960" cy="0"/>
          </a:xfrm>
          <a:prstGeom prst="line">
            <a:avLst/>
          </a:prstGeom>
          <a:noFill/>
          <a:ln w="19050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29000" y="2761488"/>
            <a:ext cx="914400" cy="0"/>
          </a:xfrm>
          <a:prstGeom prst="line">
            <a:avLst/>
          </a:prstGeom>
          <a:noFill/>
          <a:ln w="19050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57800" y="2761488"/>
            <a:ext cx="914400" cy="0"/>
          </a:xfrm>
          <a:prstGeom prst="line">
            <a:avLst/>
          </a:prstGeom>
          <a:noFill/>
          <a:ln w="19050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423160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RAN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343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hole / poor RSRP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Interference, low RSRQ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exhaustion at busy hour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sector, VSWR / feeder fault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379476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Transport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4343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degradation, microwave fade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Backhaul congestion at busy hour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SFP / CRC errors, queue drops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flap, MTU black-hole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symptom — high latency, buffering, dropped calls — two different owners, two different fixes.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siloed, and unmeasurable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310896" cy="31089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011680"/>
            <a:ext cx="268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87168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Ookla, N3 probes, TWAMP, SevOne each live in their own tool — no single correlated view.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8160" y="182880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6760" y="2057400"/>
            <a:ext cx="310896" cy="31089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6528" y="2011680"/>
            <a:ext cx="268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56760" y="2487168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eyeball KPI graphs site by site. It does not scale to a whole market.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7680" y="182880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6280" y="2057400"/>
            <a:ext cx="310896" cy="31089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6048" y="2011680"/>
            <a:ext cx="268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Finger-pointing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36280" y="2487168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and transport teams each say ‘not us’; tickets bounce between them for days.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51960"/>
            <a:ext cx="310896" cy="31089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7008" y="4206240"/>
            <a:ext cx="268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prioritisation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81728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80 sites do we audit first? Today that answer is gut feel.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8160" y="402336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6760" y="4251960"/>
            <a:ext cx="310896" cy="31089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86528" y="4206240"/>
            <a:ext cx="268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56760" y="4681728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check whether the triage call was actually right.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07680" y="402336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6280" y="4251960"/>
            <a:ext cx="310896" cy="31089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66048" y="4206240"/>
            <a:ext cx="268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Phase-2 audits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336280" y="4681728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 sites for field work takes weeks of cross-team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feeds, one timeline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92224"/>
            <a:ext cx="146304" cy="493776"/>
          </a:xfrm>
          <a:prstGeom prst="roundRect">
            <a:avLst>
              <a:gd name="adj" fmla="val 50000"/>
            </a:avLst>
          </a:prstGeom>
          <a:solidFill>
            <a:srgbClr val="56A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1719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Ookla SpeedTest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4825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+ radio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664208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UL/DL throughput, loaded latency, RSRP, RSRQ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651760"/>
            <a:ext cx="146304" cy="493776"/>
          </a:xfrm>
          <a:prstGeom prst="roundRect">
            <a:avLst>
              <a:gd name="adj" fmla="val 50000"/>
            </a:avLst>
          </a:prstGeom>
          <a:solidFill>
            <a:srgbClr val="F282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2578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probe EDRs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077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— the split point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2523744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client RTT, TCP server RTT, TCP fail %, retransmissions, VoNR MOS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511296"/>
            <a:ext cx="146304" cy="493776"/>
          </a:xfrm>
          <a:prstGeom prst="roundRect">
            <a:avLst>
              <a:gd name="adj" fmla="val 50000"/>
            </a:avLst>
          </a:prstGeom>
          <a:solidFill>
            <a:srgbClr val="AE82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34381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Audio QoE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7673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AE8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3383280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audio MOS, rebuffer ratio, startup delay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370832"/>
            <a:ext cx="146304" cy="493776"/>
          </a:xfrm>
          <a:prstGeom prst="roundRect">
            <a:avLst>
              <a:gd name="adj" fmla="val 50000"/>
            </a:avLst>
          </a:prstGeom>
          <a:solidFill>
            <a:srgbClr val="45C48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42976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TWAMP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62686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transport (active probes on each link)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4242816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/ round-trip delay, frame loss, jitter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10235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230368"/>
            <a:ext cx="146304" cy="493776"/>
          </a:xfrm>
          <a:prstGeom prst="roundRect">
            <a:avLst>
              <a:gd name="adj" fmla="val 50000"/>
            </a:avLst>
          </a:prstGeom>
          <a:solidFill>
            <a:srgbClr val="EAB6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51572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SevOne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4864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EA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devices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5102352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queue depth, discards, interface utilisation, CRC errors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0167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 site  ·  cell  ·  transport-path  ·  5-minute bin.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batch now, streaming later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598894" cy="105156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74520"/>
            <a:ext cx="13977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29246" y="1874520"/>
            <a:ext cx="1598894" cy="105156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6406" y="1874520"/>
            <a:ext cx="13977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09851" y="1874520"/>
            <a:ext cx="1598894" cy="105156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7011" y="1874520"/>
            <a:ext cx="13977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90457" y="1874520"/>
            <a:ext cx="1598894" cy="105156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27617" y="1874520"/>
            <a:ext cx="13977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71063" y="1874520"/>
            <a:ext cx="1598894" cy="105156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08223" y="1874520"/>
            <a:ext cx="13977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/ RAN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51669" y="1874520"/>
            <a:ext cx="1598894" cy="105156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88829" y="1874520"/>
            <a:ext cx="13977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(graph RCA)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32274" y="1874520"/>
            <a:ext cx="1598894" cy="1051560"/>
          </a:xfrm>
          <a:prstGeom prst="chevron">
            <a:avLst/>
          </a:prstGeom>
          <a:solidFill>
            <a:srgbClr val="F2822F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69434" y="1874520"/>
            <a:ext cx="13977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list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batch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04164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generator writes the SQLite warehouse + Parquet raw layer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generate  →  na analytics  →  na report   (or the Settings page)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reads pre-computed serving tables — always fast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52044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streaming (Phase 2)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04164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feeds land continuously via the ingestion layer (Ramoji)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rollups on arrival; analytics recompute on a schedule (e.g. hourly)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serving tables, same dashboard — plus alerting on new priority sites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warehouse  ·  FastAPI backend  ·  React dashboard  ·  background job runner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ISOLATION WORKS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vs RAN — the tell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05200" cy="2880360"/>
          </a:xfrm>
          <a:prstGeom prst="roundRect">
            <a:avLst>
              <a:gd name="adj" fmla="val 2857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47672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RTT split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304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client RTT = radio + the whole transport path (round trip). TCP server RTT = internet only, site-independent — the control.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31520" y="3822192"/>
            <a:ext cx="3139440" cy="694944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22192"/>
            <a:ext cx="286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RTT up while server RTT flat  →  access / transport, not the internet.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328160" y="1783080"/>
            <a:ext cx="3505200" cy="2880360"/>
          </a:xfrm>
          <a:prstGeom prst="roundRect">
            <a:avLst>
              <a:gd name="adj" fmla="val 2857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6760" y="1947672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Signature match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56760" y="2377440"/>
            <a:ext cx="304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RSRP / RSRQ degraded, PRB near 100 %, usually one sector. Transport: TWAMP loss / jitter, SevOne queue / CRC, per-link delay — the transport layer's own instruments.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11040" y="3822192"/>
            <a:ext cx="3139440" cy="694944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48200" y="3822192"/>
            <a:ext cx="286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Pure-transport instruments lit, radio clean  →  transport.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107680" y="1783080"/>
            <a:ext cx="3505200" cy="2880360"/>
          </a:xfrm>
          <a:prstGeom prst="roundRect">
            <a:avLst>
              <a:gd name="adj" fmla="val 2857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6280" y="1947672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Common cause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36280" y="2377440"/>
            <a:ext cx="304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radio fault cannot degrade 18 sites at once. A shared backhaul link does it every time.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290560" y="3822192"/>
            <a:ext cx="3139440" cy="694944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 w="12700">
            <a:solidFill>
              <a:srgbClr val="45C48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27720" y="3822192"/>
            <a:ext cx="286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‘% of sibling sites on the shared uplink also degraded’ is the strongest tell.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23251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074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5074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0" y="5074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5074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23251"/>
          </a:solidFill>
          <a:ln w="12700">
            <a:solidFill>
              <a:srgbClr val="AE82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5074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8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0" y="5074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23251"/>
          </a:solidFill>
          <a:ln w="12700">
            <a:solidFill>
              <a:srgbClr val="97A5B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0" y="5074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64040" y="5074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 calibrated confidence score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alone is weak — together they give a class and a confidence.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45C4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ENGINE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synthetic — on purpose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029200" cy="4023360"/>
          </a:xfrm>
          <a:prstGeom prst="roundRect">
            <a:avLst>
              <a:gd name="adj" fmla="val 20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Data-pipeline engineering is not in scope yet — real feeds arrive in Phase 2 (Ramoji).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lets us build and validate the analytics against known answers.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fault injection → every record has a ground-truth cause.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precision / recall of the attribution is a real, reported number — not a guess.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783080"/>
            <a:ext cx="5669280" cy="4023360"/>
          </a:xfrm>
          <a:prstGeom prst="roundRect">
            <a:avLst>
              <a:gd name="adj" fmla="val 20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causal model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42316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223251"/>
          </a:solidFill>
          <a:ln w="12700">
            <a:solidFill>
              <a:srgbClr val="97A5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4231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24231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diurnal + weekly load shape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778240" y="3081528"/>
            <a:ext cx="0" cy="118872"/>
          </a:xfrm>
          <a:prstGeom prst="line">
            <a:avLst/>
          </a:prstGeom>
          <a:noFill/>
          <a:ln w="15875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320040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2004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3200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loss → RSRP  ·  load → PRB  ·  interference → RSRQ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778240" y="3858768"/>
            <a:ext cx="0" cy="118872"/>
          </a:xfrm>
          <a:prstGeom prst="line">
            <a:avLst/>
          </a:prstGeom>
          <a:noFill/>
          <a:ln w="15875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200" y="397764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223251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977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977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 queueing on shared links → delay / jitter / loss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778240" y="4636008"/>
            <a:ext cx="0" cy="118872"/>
          </a:xfrm>
          <a:prstGeom prst="line">
            <a:avLst/>
          </a:prstGeom>
          <a:noFill/>
          <a:ln w="15875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72200" y="475488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223251"/>
          </a:solidFill>
          <a:ln w="12700">
            <a:solidFill>
              <a:srgbClr val="45C48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4754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App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47548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RTT, throughput, VoNR MOS (E-model), YouTube QoE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is derived from shared latent state — so the KPI correlations are physical, not bolted-on noise.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45C4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— seeded and reproducible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365760" cy="3657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83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783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→ regions → sites → cells; routers; links; per-site 3-hop path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505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4505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+ Poisson auto faults, each resolved to targets &amp; a window — GROUND TRUTH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45536"/>
            <a:ext cx="365760" cy="3657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181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metric model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1181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5-min bin: demand → queueing → radio → session/app KPIs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813048"/>
            <a:ext cx="365760" cy="3657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8561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sessions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7856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count of individual Ookla tests / QoE sessions per site-bin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4531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rollups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4453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parquet → hourly; transport rolled along each site's path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1206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51206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warehouse (dims, ground truth, rollups, sessions)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1783080"/>
            <a:ext cx="4800600" cy="4023360"/>
          </a:xfrm>
          <a:prstGeom prst="roundRect">
            <a:avLst>
              <a:gd name="adj" fmla="val 20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408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transport topology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63940" y="24231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63940" y="2423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46620" y="32004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46620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212580" y="2807208"/>
            <a:ext cx="-1554480" cy="393192"/>
          </a:xfrm>
          <a:prstGeom prst="line">
            <a:avLst/>
          </a:prstGeom>
          <a:noFill/>
          <a:ln w="12700">
            <a:solidFill>
              <a:srgbClr val="3141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01100" y="32004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01100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212580" y="2807208"/>
            <a:ext cx="0" cy="393192"/>
          </a:xfrm>
          <a:prstGeom prst="line">
            <a:avLst/>
          </a:prstGeom>
          <a:noFill/>
          <a:ln w="12700">
            <a:solidFill>
              <a:srgbClr val="3141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55580" y="32004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223251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355580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212580" y="2807208"/>
            <a:ext cx="1554480" cy="393192"/>
          </a:xfrm>
          <a:prstGeom prst="line">
            <a:avLst/>
          </a:prstGeom>
          <a:noFill/>
          <a:ln w="12700">
            <a:solidFill>
              <a:srgbClr val="31416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09460" y="4114800"/>
            <a:ext cx="219456" cy="307238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19188" y="4422038"/>
            <a:ext cx="0" cy="153619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92853" y="4053352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7" name="Shape 45"/>
          <p:cNvSpPr/>
          <p:nvPr/>
        </p:nvSpPr>
        <p:spPr>
          <a:xfrm>
            <a:off x="7840980" y="4114800"/>
            <a:ext cx="219456" cy="307238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50708" y="4422038"/>
            <a:ext cx="0" cy="153619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24373" y="4053352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0" name="Shape 48"/>
          <p:cNvSpPr/>
          <p:nvPr/>
        </p:nvSpPr>
        <p:spPr>
          <a:xfrm>
            <a:off x="8572500" y="4114800"/>
            <a:ext cx="219456" cy="307238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2228" y="4422038"/>
            <a:ext cx="0" cy="153619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55893" y="4053352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3" name="Shape 51"/>
          <p:cNvSpPr/>
          <p:nvPr/>
        </p:nvSpPr>
        <p:spPr>
          <a:xfrm>
            <a:off x="9304020" y="4114800"/>
            <a:ext cx="219456" cy="307238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13748" y="4422038"/>
            <a:ext cx="0" cy="153619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87413" y="4053352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6" name="Shape 54"/>
          <p:cNvSpPr/>
          <p:nvPr/>
        </p:nvSpPr>
        <p:spPr>
          <a:xfrm>
            <a:off x="10035540" y="4114800"/>
            <a:ext cx="219456" cy="307238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5268" y="4422038"/>
            <a:ext cx="0" cy="153619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18933" y="4053352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9" name="Shape 57"/>
          <p:cNvSpPr/>
          <p:nvPr/>
        </p:nvSpPr>
        <p:spPr>
          <a:xfrm>
            <a:off x="10767060" y="4114800"/>
            <a:ext cx="219456" cy="307238"/>
          </a:xfrm>
          <a:prstGeom prst="triangle">
            <a:avLst/>
          </a:prstGeom>
          <a:ln w="25400">
            <a:solidFill>
              <a:srgbClr val="F2822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76788" y="4422038"/>
            <a:ext cx="0" cy="153619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850453" y="4053352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040880" y="48920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(pre-agg) → AGG uplinks are shared by whole clusters</a:t>
            </a:r>
            <a:endParaRPr lang="en-US" sz="930" dirty="0"/>
          </a:p>
        </p:txBody>
      </p:sp>
      <p:sp>
        <p:nvSpPr>
          <p:cNvPr id="63" name="Text 61"/>
          <p:cNvSpPr txBox="1"/>
          <p:nvPr/>
        </p:nvSpPr>
        <p:spPr>
          <a:xfrm>
            <a:off x="7040880" y="5303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fault  →  a whole cluster degrades  →  the common-cause signal</a:t>
            </a:r>
            <a:endParaRPr lang="en-US" sz="93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 sites  ·  ~1,450 links  ·  5-min granularity  ·  1–2 weeks  ·  same seed → identical dataset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Statistical, ML and graph — explainable first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007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7007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trailing median + inter-decile range; morphology + load peer-group z-scores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548640" y="2276856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768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2768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multi-criteria composite; session- and user-impacted weighting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52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852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 ∪  LightGBM (gradient-boosted trees) + SHAP; isotonic-calibrated ensemble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429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residual + Isolation Forest + PCA reconstruction error; time + topology clustering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0050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0050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Spearman, partial correlation (precision matrix), lead / lag cross-correlation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48640" y="4581144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581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45811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components, coefficient of variation, PSI drift (week over week)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48640" y="5157216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1572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515721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transport graph + minimal hitting set (Noisy-OR fault localisation)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548640" y="5779008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7790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first: hand rules + SHAP + plain-English evidence.   No LLM in the runtime.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 →  the priority list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7132320" cy="4480560"/>
          </a:xfrm>
          <a:prstGeom prst="roundRect">
            <a:avLst>
              <a:gd name="adj" fmla="val 816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8" name="Image 0" descr="img/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7040880" cy="43891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2453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— site map coloured by attributed cause, KPI tiles vs baseline, attribution split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18120" y="1737360"/>
            <a:ext cx="3840480" cy="3017520"/>
          </a:xfrm>
          <a:prstGeom prst="roundRect">
            <a:avLst>
              <a:gd name="adj" fmla="val 1212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11" name="Image 1" descr="img/prior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783080"/>
            <a:ext cx="3749040" cy="29260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863840" y="489204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73568" y="489204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 75–100  ·  filter by cause / region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5468112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73568" y="5468112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to the Phase-2 audit list (.xlsx)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7863840" y="6062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Sites — the ranked audit shortlist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site: why this attribution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897880" cy="4572000"/>
          </a:xfrm>
          <a:prstGeom prst="roundRect">
            <a:avLst>
              <a:gd name="adj" fmla="val 800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8" name="Image 0" descr="img/site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5806440" cy="44805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33679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Detail — S00178, transport, confidence 0.98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629400" y="1783080"/>
            <a:ext cx="4983480" cy="932688"/>
          </a:xfrm>
          <a:prstGeom prst="roundRect">
            <a:avLst>
              <a:gd name="adj" fmla="val 8824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30568" y="1892808"/>
            <a:ext cx="4581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evidence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30568" y="2240280"/>
            <a:ext cx="4581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plain-English, threshold-triggered — no model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6629400" y="2880360"/>
            <a:ext cx="4983480" cy="932688"/>
          </a:xfrm>
          <a:prstGeom prst="roundRect">
            <a:avLst>
              <a:gd name="adj" fmla="val 8824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30568" y="2990088"/>
            <a:ext cx="4581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30568" y="3337560"/>
            <a:ext cx="4581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features drove the call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6629400" y="3977640"/>
            <a:ext cx="4983480" cy="932688"/>
          </a:xfrm>
          <a:prstGeom prst="roundRect">
            <a:avLst>
              <a:gd name="adj" fmla="val 8824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30568" y="4087368"/>
            <a:ext cx="4581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vs Transport panels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30568" y="4434840"/>
            <a:ext cx="4581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side, with anomaly markers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6629400" y="5074920"/>
            <a:ext cx="4983480" cy="932688"/>
          </a:xfrm>
          <a:prstGeom prst="roundRect">
            <a:avLst>
              <a:gd name="adj" fmla="val 8824"/>
            </a:avLst>
          </a:prstGeom>
          <a:solidFill>
            <a:srgbClr val="1A2740"/>
          </a:solidFill>
          <a:ln w="9525">
            <a:solidFill>
              <a:srgbClr val="AE82E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30568" y="5184648"/>
            <a:ext cx="4581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8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30568" y="5532120"/>
            <a:ext cx="4581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injected fault, shown in demo mode</a:t>
            </a:r>
            <a:endParaRPr lang="en-US" sz="9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localised to the link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6858000" cy="4434840"/>
          </a:xfrm>
          <a:prstGeom prst="roundRect">
            <a:avLst>
              <a:gd name="adj" fmla="val 825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8" name="Image 0" descr="img/incid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4343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1996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/ RCA — anomaly clusters localised, matched to ground truth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89520" y="1783080"/>
            <a:ext cx="4023360" cy="1600200"/>
          </a:xfrm>
          <a:prstGeom prst="roundRect">
            <a:avLst>
              <a:gd name="adj" fmla="val 5143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90688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hitting set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90688" y="2286000"/>
            <a:ext cx="3621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transport graph: the smallest set of shared links whose failure explains the whole affected-site set.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589520" y="3566160"/>
            <a:ext cx="4023360" cy="2514600"/>
          </a:xfrm>
          <a:prstGeom prst="roundRect">
            <a:avLst>
              <a:gd name="adj" fmla="val 3273"/>
            </a:avLst>
          </a:prstGeom>
          <a:solidFill>
            <a:srgbClr val="223251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90688" y="3712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technician sees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90688" y="4078224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“19 sites degraded concurrently  ·  hitting set explains 100 %  ·  matched INC017”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90688" y="4983480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inspect the fibre span / patch panel on the pre-agg uplink; check optical Rx power.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WORKFLOW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 — and how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/ service assurance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67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triage — which sites to escalate, to whom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624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transport operations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83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common cause; target the link, not 18 sites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365760" cy="365760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465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optimisation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49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transport noise; focus on real radio issues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3068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planning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90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congestion → capacity upgrades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365760" cy="365760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5148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audit team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532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prioritised list + the recommended checks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035040" y="1783080"/>
            <a:ext cx="5577840" cy="4160520"/>
          </a:xfrm>
          <a:prstGeom prst="roundRect">
            <a:avLst>
              <a:gd name="adj" fmla="val 1978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— six clicks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395728"/>
            <a:ext cx="329184" cy="329184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3682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is there a cluster?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962656"/>
            <a:ext cx="329184" cy="329184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9352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Sites — filter to transport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529584"/>
            <a:ext cx="329184" cy="329184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502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Detail — evidence + confidence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096512"/>
            <a:ext cx="329184" cy="329184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069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Paths — siblings on the link?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4663440"/>
            <a:ext cx="329184" cy="329184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46360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/ RCA — already localised?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5230368"/>
            <a:ext cx="329184" cy="329184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52029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Phase-2 audit list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45C4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OPERATE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Standalone, controllable, explainable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74720" cy="3520440"/>
          </a:xfrm>
          <a:prstGeom prst="roundRect">
            <a:avLst>
              <a:gd name="adj" fmla="val 2368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3072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docker compose up — or native (uv + Node).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serves the API and the dashboard on :8000.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warehouse; no external services.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Linux; VS Code tasks included.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74720" cy="3520440"/>
          </a:xfrm>
          <a:prstGeom prst="roundRect">
            <a:avLst>
              <a:gd name="adj" fmla="val 2368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395728"/>
            <a:ext cx="3072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Generation page: pick a preset, edit distributions, schedule labelled incidents.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Generate — analytics runs automatically, with live progress.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own presets; re-run analytics or rebuild the report on demand.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474720" cy="3520440"/>
          </a:xfrm>
          <a:prstGeom prst="roundRect">
            <a:avLst>
              <a:gd name="adj" fmla="val 2368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395728"/>
            <a:ext cx="3072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‘none’ = degraded, cause unclear — don't dispatch; low confidence → corroborate on Transport Paths.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→ run generate + analytics.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reach it from a laptop → bind 0.0.0.0 + open the port.</a:t>
            </a:r>
            <a:endParaRPr lang="en-US" sz="98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→ fewer sites / days.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github.com/manjunathsept11/ran-transport-isolation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 the repo:  README  ·  DASHBOARD_GUIDE  ·  METHODS  ·  DATA_GENERATION  ·  INSTALL_VM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 &amp; Transport Isolation Module</dc:title>
  <dc:subject>PptxGenJS Presentation</dc:subject>
  <dc:creator>RAN &amp; Transport Isolation</dc:creator>
  <cp:lastModifiedBy>RAN &amp; Transport Isolation</cp:lastModifiedBy>
  <cp:revision>1</cp:revision>
  <dcterms:created xsi:type="dcterms:W3CDTF">2026-09-02T06:24:44Z</dcterms:created>
  <dcterms:modified xsi:type="dcterms:W3CDTF">2026-09-02T06:24:44Z</dcterms:modified>
</cp:coreProperties>
</file>