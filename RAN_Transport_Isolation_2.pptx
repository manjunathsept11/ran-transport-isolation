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 transport-impacted sites and separate transport vs RAN causes, with explainable evidence. Synthetic data now; live feeds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Straight from the brief. Outputs: ranked dashboard, exportable audit shortlist, per-site root-cause +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user symptom, two possible owners, two different fixes. Today the split is a manual, cross-team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concrete pain points the module removes.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feeds and what each contributes. The N3 probe's client-vs-server RTT split is the key one for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stitching layer. Serving-cell resolution and the topology join are what make sibling-site correlation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pipeline for synthetic and live data; only the source and cadence change. The dashboard never runs analytics inline.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independent tests → a class plus a calibrated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= severity × sessions/users impacted, blended across the headline KPIs. Transparent by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Explainable-first: rules + SHAP + evidence text. LightGBM adds lift. Ensemble is isotonic-calibrated. No 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do not attribute a cause on their own - they corroborate the attribution and surface intermittent faults.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Transport localisation is a graph problem: minimal set of shared links covering the affected-site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is the only way to measure attribution accuracy. The causal model makes correlations realistic.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generation stages. Determinism verified by row-count and hash checksum.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 aggregation tree. Shared uplinks give transport faults a clean blast radius and enable sibling-site correlation.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Tabular ML (LightGBM), not deep learning - fast retrain, handles missing data, auditable via SHAP + rule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Overview and the ranked Priority Sites grid with the audit-list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explainability surface: rule evidence, SHAP bars, radio-vs-transport panels, and the true injected fault in demo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concrete investigation: a wet-weather fibre degradation hitting a regional cluster, from symptom to a single audit item in six clicks.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Packaging, personas, the control surface, and the common gotchas.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 ISOLATION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20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0876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395728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Module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52044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the sites, nodes and transport paths most impacted by transport-network problems — and tell you which are transport vs RAN, with the evidence.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66928" y="4709160"/>
            <a:ext cx="2743200" cy="365760"/>
          </a:xfrm>
          <a:prstGeom prst="roundRect">
            <a:avLst>
              <a:gd name="adj" fmla="val 35000"/>
            </a:avLst>
          </a:prstGeom>
          <a:solidFill>
            <a:srgbClr val="223251"/>
          </a:solidFill>
          <a:ln w="12700">
            <a:solidFill>
              <a:srgbClr val="56A6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4709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Transport Analytics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47288" y="4709160"/>
            <a:ext cx="2743200" cy="365760"/>
          </a:xfrm>
          <a:prstGeom prst="roundRect">
            <a:avLst>
              <a:gd name="adj" fmla="val 35000"/>
            </a:avLst>
          </a:prstGeom>
          <a:solidFill>
            <a:srgbClr val="223251"/>
          </a:solidFill>
          <a:ln w="12700">
            <a:solidFill>
              <a:srgbClr val="56A6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47288" y="4709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Analytics Dashboard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27648" y="4709160"/>
            <a:ext cx="2743200" cy="365760"/>
          </a:xfrm>
          <a:prstGeom prst="roundRect">
            <a:avLst>
              <a:gd name="adj" fmla="val 35000"/>
            </a:avLst>
          </a:prstGeom>
          <a:solidFill>
            <a:srgbClr val="223251"/>
          </a:solidFill>
          <a:ln w="12700">
            <a:solidFill>
              <a:srgbClr val="56A6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27648" y="4709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Phase-2 Audit Prioritisation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Synthetic-data build  ·  standalone web app  ·  github.com/manjunathsept11/ran-transport-isolation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flipH="1">
            <a:off x="9875520" y="1783080"/>
            <a:ext cx="731520" cy="502920"/>
          </a:xfrm>
          <a:prstGeom prst="line">
            <a:avLst/>
          </a:prstGeom>
          <a:noFill/>
          <a:ln w="13970">
            <a:solidFill>
              <a:srgbClr val="31416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1783080"/>
            <a:ext cx="91440" cy="502920"/>
          </a:xfrm>
          <a:prstGeom prst="line">
            <a:avLst/>
          </a:prstGeom>
          <a:noFill/>
          <a:ln w="13970">
            <a:solidFill>
              <a:srgbClr val="31416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07040" y="1783080"/>
            <a:ext cx="914400" cy="502920"/>
          </a:xfrm>
          <a:prstGeom prst="line">
            <a:avLst/>
          </a:prstGeom>
          <a:noFill/>
          <a:ln w="13970">
            <a:solidFill>
              <a:srgbClr val="31416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9646920" y="2651760"/>
            <a:ext cx="228600" cy="731520"/>
          </a:xfrm>
          <a:prstGeom prst="line">
            <a:avLst/>
          </a:prstGeom>
          <a:noFill/>
          <a:ln w="13970">
            <a:solidFill>
              <a:srgbClr val="31416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2651760"/>
            <a:ext cx="173736" cy="731520"/>
          </a:xfrm>
          <a:prstGeom prst="line">
            <a:avLst/>
          </a:prstGeom>
          <a:noFill/>
          <a:ln w="13970">
            <a:solidFill>
              <a:srgbClr val="31416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0" y="2651760"/>
            <a:ext cx="576072" cy="731520"/>
          </a:xfrm>
          <a:prstGeom prst="line">
            <a:avLst/>
          </a:prstGeom>
          <a:noFill/>
          <a:ln w="13970">
            <a:solidFill>
              <a:srgbClr val="31416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98480" y="2651760"/>
            <a:ext cx="155448" cy="731520"/>
          </a:xfrm>
          <a:prstGeom prst="line">
            <a:avLst/>
          </a:prstGeom>
          <a:noFill/>
          <a:ln w="13970">
            <a:solidFill>
              <a:srgbClr val="31416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H="1">
            <a:off x="11256264" y="2651760"/>
            <a:ext cx="265176" cy="731520"/>
          </a:xfrm>
          <a:prstGeom prst="line">
            <a:avLst/>
          </a:prstGeom>
          <a:noFill/>
          <a:ln w="13970">
            <a:solidFill>
              <a:srgbClr val="31416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521440" y="2651760"/>
            <a:ext cx="137160" cy="731520"/>
          </a:xfrm>
          <a:prstGeom prst="line">
            <a:avLst/>
          </a:prstGeom>
          <a:noFill/>
          <a:ln w="13970">
            <a:solidFill>
              <a:srgbClr val="31416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04120" y="1417320"/>
            <a:ext cx="1005840" cy="365760"/>
          </a:xfrm>
          <a:prstGeom prst="roundRect">
            <a:avLst>
              <a:gd name="adj" fmla="val 17500"/>
            </a:avLst>
          </a:prstGeom>
          <a:solidFill>
            <a:srgbClr val="223251"/>
          </a:solidFill>
          <a:ln w="17780">
            <a:solidFill>
              <a:srgbClr val="56A6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104120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509760" y="2286000"/>
            <a:ext cx="731520" cy="365760"/>
          </a:xfrm>
          <a:prstGeom prst="roundRect">
            <a:avLst>
              <a:gd name="adj" fmla="val 17500"/>
            </a:avLst>
          </a:prstGeom>
          <a:solidFill>
            <a:srgbClr val="223251"/>
          </a:solidFill>
          <a:ln w="17780">
            <a:solidFill>
              <a:srgbClr val="56A6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509760" y="2286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0332720" y="2286000"/>
            <a:ext cx="731520" cy="365760"/>
          </a:xfrm>
          <a:prstGeom prst="roundRect">
            <a:avLst>
              <a:gd name="adj" fmla="val 17500"/>
            </a:avLst>
          </a:prstGeom>
          <a:solidFill>
            <a:srgbClr val="223251"/>
          </a:solidFill>
          <a:ln w="17780">
            <a:solidFill>
              <a:srgbClr val="56A6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332720" y="2286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1155680" y="2286000"/>
            <a:ext cx="731520" cy="365760"/>
          </a:xfrm>
          <a:prstGeom prst="roundRect">
            <a:avLst>
              <a:gd name="adj" fmla="val 17500"/>
            </a:avLst>
          </a:prstGeom>
          <a:solidFill>
            <a:srgbClr val="223251"/>
          </a:solidFill>
          <a:ln w="17780">
            <a:solidFill>
              <a:srgbClr val="56A6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1155680" y="2286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528048" y="3401568"/>
            <a:ext cx="219456" cy="298460"/>
          </a:xfrm>
          <a:prstGeom prst="triangle">
            <a:avLst/>
          </a:prstGeom>
          <a:solidFill>
            <a:srgbClr val="0F1626"/>
          </a:solidFill>
          <a:ln w="25400">
            <a:solidFill>
              <a:srgbClr val="F2822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37776" y="3700028"/>
            <a:ext cx="18288" cy="140452"/>
          </a:xfrm>
          <a:prstGeom prst="line">
            <a:avLst/>
          </a:prstGeom>
          <a:noFill/>
          <a:ln w="25400">
            <a:solidFill>
              <a:srgbClr val="F2822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11441" y="3344509"/>
            <a:ext cx="52669" cy="52669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34" name="Shape 32"/>
          <p:cNvSpPr/>
          <p:nvPr/>
        </p:nvSpPr>
        <p:spPr>
          <a:xfrm>
            <a:off x="9930384" y="3401568"/>
            <a:ext cx="219456" cy="298460"/>
          </a:xfrm>
          <a:prstGeom prst="triangle">
            <a:avLst/>
          </a:prstGeom>
          <a:solidFill>
            <a:srgbClr val="0F1626"/>
          </a:solidFill>
          <a:ln w="25400">
            <a:solidFill>
              <a:srgbClr val="F2822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40112" y="3700028"/>
            <a:ext cx="18288" cy="140452"/>
          </a:xfrm>
          <a:prstGeom prst="line">
            <a:avLst/>
          </a:prstGeom>
          <a:noFill/>
          <a:ln w="25400">
            <a:solidFill>
              <a:srgbClr val="F2822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13777" y="3344509"/>
            <a:ext cx="52669" cy="52669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37" name="Shape 35"/>
          <p:cNvSpPr/>
          <p:nvPr/>
        </p:nvSpPr>
        <p:spPr>
          <a:xfrm>
            <a:off x="10332720" y="3401568"/>
            <a:ext cx="219456" cy="298460"/>
          </a:xfrm>
          <a:prstGeom prst="triangle">
            <a:avLst/>
          </a:prstGeom>
          <a:solidFill>
            <a:srgbClr val="0F1626"/>
          </a:solidFill>
          <a:ln w="25400">
            <a:solidFill>
              <a:srgbClr val="F2822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442448" y="3700028"/>
            <a:ext cx="18288" cy="140452"/>
          </a:xfrm>
          <a:prstGeom prst="line">
            <a:avLst/>
          </a:prstGeom>
          <a:noFill/>
          <a:ln w="25400">
            <a:solidFill>
              <a:srgbClr val="F2822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416113" y="3344509"/>
            <a:ext cx="52669" cy="52669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40" name="Shape 38"/>
          <p:cNvSpPr/>
          <p:nvPr/>
        </p:nvSpPr>
        <p:spPr>
          <a:xfrm>
            <a:off x="10735056" y="3401568"/>
            <a:ext cx="219456" cy="298460"/>
          </a:xfrm>
          <a:prstGeom prst="triangle">
            <a:avLst/>
          </a:prstGeom>
          <a:solidFill>
            <a:srgbClr val="0F1626"/>
          </a:solidFill>
          <a:ln w="25400">
            <a:solidFill>
              <a:srgbClr val="F2822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844784" y="3700028"/>
            <a:ext cx="18288" cy="140452"/>
          </a:xfrm>
          <a:prstGeom prst="line">
            <a:avLst/>
          </a:prstGeom>
          <a:noFill/>
          <a:ln w="25400">
            <a:solidFill>
              <a:srgbClr val="F2822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818449" y="3344509"/>
            <a:ext cx="52669" cy="52669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43" name="Shape 41"/>
          <p:cNvSpPr/>
          <p:nvPr/>
        </p:nvSpPr>
        <p:spPr>
          <a:xfrm>
            <a:off x="11137392" y="3401568"/>
            <a:ext cx="219456" cy="298460"/>
          </a:xfrm>
          <a:prstGeom prst="triangle">
            <a:avLst/>
          </a:prstGeom>
          <a:solidFill>
            <a:srgbClr val="0F1626"/>
          </a:solidFill>
          <a:ln w="25400">
            <a:solidFill>
              <a:srgbClr val="F2822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247120" y="3700028"/>
            <a:ext cx="18288" cy="140452"/>
          </a:xfrm>
          <a:prstGeom prst="line">
            <a:avLst/>
          </a:prstGeom>
          <a:noFill/>
          <a:ln w="25400">
            <a:solidFill>
              <a:srgbClr val="F2822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220785" y="3344509"/>
            <a:ext cx="52669" cy="52669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46" name="Shape 44"/>
          <p:cNvSpPr/>
          <p:nvPr/>
        </p:nvSpPr>
        <p:spPr>
          <a:xfrm>
            <a:off x="11539728" y="3401568"/>
            <a:ext cx="219456" cy="298460"/>
          </a:xfrm>
          <a:prstGeom prst="triangle">
            <a:avLst/>
          </a:prstGeom>
          <a:solidFill>
            <a:srgbClr val="0F1626"/>
          </a:solidFill>
          <a:ln w="25400">
            <a:solidFill>
              <a:srgbClr val="F2822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649456" y="3700028"/>
            <a:ext cx="18288" cy="140452"/>
          </a:xfrm>
          <a:prstGeom prst="line">
            <a:avLst/>
          </a:prstGeom>
          <a:noFill/>
          <a:ln w="25400">
            <a:solidFill>
              <a:srgbClr val="F2822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623121" y="3344509"/>
            <a:ext cx="52669" cy="52669"/>
          </a:xfrm>
          <a:prstGeom prst="ellipse">
            <a:avLst/>
          </a:prstGeom>
          <a:solidFill>
            <a:srgbClr val="F2822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 ISOLATION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56A6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38404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 CASE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6809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experience with transport — then rank and attribute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3736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and correlate end-user experience metrics with transport-layer telemetry to identify and rank the sites, nodes and transport paths most impacted — and separate transport-attributed impairment from RAN-attributed impairment using serving-cell context and radio signal quality.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4160520"/>
            <a:ext cx="1280160" cy="1417320"/>
          </a:xfrm>
          <a:prstGeom prst="roundRect">
            <a:avLst>
              <a:gd name="adj" fmla="val 5714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427939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919472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feeds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984248" y="4160520"/>
            <a:ext cx="1280160" cy="1417320"/>
          </a:xfrm>
          <a:prstGeom prst="roundRect">
            <a:avLst>
              <a:gd name="adj" fmla="val 5714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84248" y="427939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984248" y="4919472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01568" y="4160520"/>
            <a:ext cx="1280160" cy="1417320"/>
          </a:xfrm>
          <a:prstGeom prst="roundRect">
            <a:avLst>
              <a:gd name="adj" fmla="val 5714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01568" y="427939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75–100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3401568" y="4919472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for the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Phase-2 audit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18888" y="4160520"/>
            <a:ext cx="1280160" cy="1417320"/>
          </a:xfrm>
          <a:prstGeom prst="roundRect">
            <a:avLst>
              <a:gd name="adj" fmla="val 5714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18888" y="427939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818888" y="4919472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 in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runtime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66560" y="1737360"/>
            <a:ext cx="4858207" cy="3977640"/>
          </a:xfrm>
          <a:prstGeom prst="roundRect">
            <a:avLst>
              <a:gd name="adj" fmla="val 1839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22592" y="1901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22592" y="2395728"/>
            <a:ext cx="432785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analytics dashboard ranking sites, nodes and transport paths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KPIs: TCP RTT, TCP Fail %, Ookla throughput, VoNR MOS, YouTube QoE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list of the top 75–100 sites for a Phase-2 field audit (CSV / Excel)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Per-site root-cause indicators and a recommended technician action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Transport-attributed impairment distinguished from RAN-attributed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 ISOLATION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38404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6809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complain. Whose problem is it?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566928" y="2148840"/>
            <a:ext cx="1188720" cy="1143000"/>
          </a:xfrm>
          <a:prstGeom prst="roundRect">
            <a:avLst>
              <a:gd name="adj" fmla="val 9600"/>
            </a:avLst>
          </a:prstGeom>
          <a:solidFill>
            <a:srgbClr val="223251"/>
          </a:solidFill>
          <a:ln w="17780">
            <a:solidFill>
              <a:srgbClr val="56A6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971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24328" y="2286000"/>
            <a:ext cx="434340" cy="590702"/>
          </a:xfrm>
          <a:prstGeom prst="triangle">
            <a:avLst/>
          </a:prstGeom>
          <a:solidFill>
            <a:srgbClr val="0F1626"/>
          </a:solidFill>
          <a:ln w="25400">
            <a:solidFill>
              <a:srgbClr val="56A6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41498" y="2876702"/>
            <a:ext cx="18288" cy="277978"/>
          </a:xfrm>
          <a:prstGeom prst="line">
            <a:avLst/>
          </a:prstGeom>
          <a:noFill/>
          <a:ln w="25400">
            <a:solidFill>
              <a:srgbClr val="56A6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9377" y="2173072"/>
            <a:ext cx="104242" cy="104242"/>
          </a:xfrm>
          <a:prstGeom prst="ellipse">
            <a:avLst/>
          </a:prstGeom>
          <a:solidFill>
            <a:srgbClr val="56A6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350008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15968" y="2331720"/>
            <a:ext cx="914400" cy="365760"/>
          </a:xfrm>
          <a:prstGeom prst="roundRect">
            <a:avLst>
              <a:gd name="adj" fmla="val 17500"/>
            </a:avLst>
          </a:prstGeom>
          <a:solidFill>
            <a:srgbClr val="223251"/>
          </a:solidFill>
          <a:ln w="17780">
            <a:solidFill>
              <a:srgbClr val="F2822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15968" y="2331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15968" y="2807208"/>
            <a:ext cx="914400" cy="365760"/>
          </a:xfrm>
          <a:prstGeom prst="roundRect">
            <a:avLst>
              <a:gd name="adj" fmla="val 17500"/>
            </a:avLst>
          </a:prstGeom>
          <a:solidFill>
            <a:srgbClr val="223251"/>
          </a:solidFill>
          <a:ln w="17780">
            <a:solidFill>
              <a:srgbClr val="F282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15968" y="2807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133088" y="32278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53328" y="2350008"/>
            <a:ext cx="1325880" cy="822960"/>
          </a:xfrm>
          <a:prstGeom prst="ellipse">
            <a:avLst/>
          </a:prstGeom>
          <a:solidFill>
            <a:srgbClr val="223251"/>
          </a:solidFill>
          <a:ln w="15240">
            <a:solidFill>
              <a:srgbClr val="97A5B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53328" y="32278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801368" y="2715768"/>
            <a:ext cx="731520" cy="27432"/>
          </a:xfrm>
          <a:prstGeom prst="line">
            <a:avLst/>
          </a:prstGeom>
          <a:noFill/>
          <a:ln w="19050">
            <a:solidFill>
              <a:srgbClr val="31416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584448" y="2715768"/>
            <a:ext cx="685800" cy="27432"/>
          </a:xfrm>
          <a:prstGeom prst="line">
            <a:avLst/>
          </a:prstGeom>
          <a:noFill/>
          <a:ln w="19050">
            <a:solidFill>
              <a:srgbClr val="31416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276088" y="2715768"/>
            <a:ext cx="731520" cy="27432"/>
          </a:xfrm>
          <a:prstGeom prst="line">
            <a:avLst/>
          </a:prstGeom>
          <a:noFill/>
          <a:ln w="19050">
            <a:solidFill>
              <a:srgbClr val="31416C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2487168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AB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566928" y="374904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A2740"/>
          </a:solidFill>
          <a:ln w="9525">
            <a:solidFill>
              <a:srgbClr val="56A6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5528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like RAN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95528" y="4315968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hole / poor RSRP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Interference, low RSRQ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PRB exhaustion at busy hour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Sleeping sector, VSWR / feeder fault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27648" y="374904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A2740"/>
          </a:solidFill>
          <a:ln w="9525">
            <a:solidFill>
              <a:srgbClr val="F2822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56248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like Transport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556248" y="4315968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 degradation, microwave fade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Backhaul congestion at busy hour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SFP / CRC errors, queue drops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flap, MTU black-hole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6108192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symptom — high latency, buffering, dropped calls — two different owners, two different fixes.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 ISOLATION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38404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TODAY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6809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siloed, and unmeasurable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3503066" cy="1874520"/>
          </a:xfrm>
          <a:prstGeom prst="roundRect">
            <a:avLst>
              <a:gd name="adj" fmla="val 3902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057400"/>
            <a:ext cx="292608" cy="292608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07008" y="2011680"/>
            <a:ext cx="26801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data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95528" y="2505456"/>
            <a:ext cx="304586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Ookla, N3 probes, TWAMP, SevOne each live in their own tool — no single correlated view.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4314" y="1828800"/>
            <a:ext cx="3503066" cy="1874520"/>
          </a:xfrm>
          <a:prstGeom prst="roundRect">
            <a:avLst>
              <a:gd name="adj" fmla="val 3902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914" y="2057400"/>
            <a:ext cx="292608" cy="292608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84394" y="2011680"/>
            <a:ext cx="26801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72914" y="2505456"/>
            <a:ext cx="304586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eyeball KPI graphs site by site. It does not scale to a whole market.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21701" y="1828800"/>
            <a:ext cx="3503066" cy="1874520"/>
          </a:xfrm>
          <a:prstGeom prst="roundRect">
            <a:avLst>
              <a:gd name="adj" fmla="val 3902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50301" y="2057400"/>
            <a:ext cx="292608" cy="292608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761781" y="2011680"/>
            <a:ext cx="26801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Finger-pointing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350301" y="2505456"/>
            <a:ext cx="304586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and transport teams each say ‘not us’; tickets bounce between them for days.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4023360"/>
            <a:ext cx="3503066" cy="1874520"/>
          </a:xfrm>
          <a:prstGeom prst="roundRect">
            <a:avLst>
              <a:gd name="adj" fmla="val 3902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" y="4251960"/>
            <a:ext cx="292608" cy="292608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207008" y="4206240"/>
            <a:ext cx="26801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prioritisation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95528" y="4700016"/>
            <a:ext cx="304586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80 sites do we audit first? Today that answer is gut feel.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44314" y="4023360"/>
            <a:ext cx="3503066" cy="1874520"/>
          </a:xfrm>
          <a:prstGeom prst="roundRect">
            <a:avLst>
              <a:gd name="adj" fmla="val 3902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914" y="4251960"/>
            <a:ext cx="292608" cy="292608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984394" y="4206240"/>
            <a:ext cx="26801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ground truth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4572914" y="4700016"/>
            <a:ext cx="304586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way to check whether the triage call was actually right.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21701" y="4023360"/>
            <a:ext cx="3503066" cy="1874520"/>
          </a:xfrm>
          <a:prstGeom prst="roundRect">
            <a:avLst>
              <a:gd name="adj" fmla="val 3902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50301" y="4251960"/>
            <a:ext cx="292608" cy="292608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761781" y="4206240"/>
            <a:ext cx="26801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Phase-2 audits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8350301" y="4700016"/>
            <a:ext cx="304586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Shortlisting sites for field work takes weeks of cross-team analysis.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 ISOLATION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56A6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38404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6809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feeds, one timeline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566928" y="1664208"/>
            <a:ext cx="11057839" cy="749808"/>
          </a:xfrm>
          <a:prstGeom prst="roundRect">
            <a:avLst>
              <a:gd name="adj" fmla="val 9756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792224"/>
            <a:ext cx="137160" cy="493776"/>
          </a:xfrm>
          <a:prstGeom prst="roundRect">
            <a:avLst>
              <a:gd name="adj" fmla="val 40000"/>
            </a:avLst>
          </a:prstGeom>
          <a:solidFill>
            <a:srgbClr val="56A6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42416" y="17190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Ookla SpeedTest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42416" y="20482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i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 + radio</a:t>
            </a:r>
            <a:endParaRPr lang="en-US" sz="930" dirty="0"/>
          </a:p>
        </p:txBody>
      </p:sp>
      <p:sp>
        <p:nvSpPr>
          <p:cNvPr id="11" name="Text 9"/>
          <p:cNvSpPr txBox="1"/>
          <p:nvPr/>
        </p:nvSpPr>
        <p:spPr>
          <a:xfrm>
            <a:off x="4178808" y="1664208"/>
            <a:ext cx="726307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UL/DL throughput, loaded latency, RSRP, RSRQ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523744"/>
            <a:ext cx="11057839" cy="749808"/>
          </a:xfrm>
          <a:prstGeom prst="roundRect">
            <a:avLst>
              <a:gd name="adj" fmla="val 9756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651760"/>
            <a:ext cx="137160" cy="493776"/>
          </a:xfrm>
          <a:prstGeom prst="roundRect">
            <a:avLst>
              <a:gd name="adj" fmla="val 40000"/>
            </a:avLst>
          </a:prstGeom>
          <a:solidFill>
            <a:srgbClr val="F2822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42416" y="257860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 probe EDRs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42416" y="29077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i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— the split point</a:t>
            </a:r>
            <a:endParaRPr lang="en-US" sz="930" dirty="0"/>
          </a:p>
        </p:txBody>
      </p:sp>
      <p:sp>
        <p:nvSpPr>
          <p:cNvPr id="16" name="Text 14"/>
          <p:cNvSpPr txBox="1"/>
          <p:nvPr/>
        </p:nvSpPr>
        <p:spPr>
          <a:xfrm>
            <a:off x="4178808" y="2523744"/>
            <a:ext cx="726307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client RTT, TCP server RTT, TCP fail %, retransmissions, VoNR MOS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383280"/>
            <a:ext cx="11057839" cy="749808"/>
          </a:xfrm>
          <a:prstGeom prst="roundRect">
            <a:avLst>
              <a:gd name="adj" fmla="val 9756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511296"/>
            <a:ext cx="137160" cy="493776"/>
          </a:xfrm>
          <a:prstGeom prst="roundRect">
            <a:avLst>
              <a:gd name="adj" fmla="val 40000"/>
            </a:avLst>
          </a:prstGeom>
          <a:solidFill>
            <a:srgbClr val="AE82E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42416" y="343814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/ Audio QoE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42416" y="37673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i="1" dirty="0">
                <a:solidFill>
                  <a:srgbClr val="AE8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930" dirty="0"/>
          </a:p>
        </p:txBody>
      </p:sp>
      <p:sp>
        <p:nvSpPr>
          <p:cNvPr id="21" name="Text 19"/>
          <p:cNvSpPr txBox="1"/>
          <p:nvPr/>
        </p:nvSpPr>
        <p:spPr>
          <a:xfrm>
            <a:off x="4178808" y="3383280"/>
            <a:ext cx="726307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/ audio MOS, rebuffer ratio, startup delay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242816"/>
            <a:ext cx="11057839" cy="749808"/>
          </a:xfrm>
          <a:prstGeom prst="roundRect">
            <a:avLst>
              <a:gd name="adj" fmla="val 9756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370832"/>
            <a:ext cx="137160" cy="493776"/>
          </a:xfrm>
          <a:prstGeom prst="roundRect">
            <a:avLst>
              <a:gd name="adj" fmla="val 40000"/>
            </a:avLst>
          </a:prstGeom>
          <a:solidFill>
            <a:srgbClr val="45C48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42416" y="429768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TWAMP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42416" y="462686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i="1" dirty="0">
                <a:solidFill>
                  <a:srgbClr val="45C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transport (active probes on each link)</a:t>
            </a:r>
            <a:endParaRPr lang="en-US" sz="930" dirty="0"/>
          </a:p>
        </p:txBody>
      </p:sp>
      <p:sp>
        <p:nvSpPr>
          <p:cNvPr id="26" name="Text 24"/>
          <p:cNvSpPr txBox="1"/>
          <p:nvPr/>
        </p:nvSpPr>
        <p:spPr>
          <a:xfrm>
            <a:off x="4178808" y="4242816"/>
            <a:ext cx="726307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/ round-trip delay, frame loss, jitter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5102352"/>
            <a:ext cx="11057839" cy="749808"/>
          </a:xfrm>
          <a:prstGeom prst="roundRect">
            <a:avLst>
              <a:gd name="adj" fmla="val 9756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5230368"/>
            <a:ext cx="137160" cy="493776"/>
          </a:xfrm>
          <a:prstGeom prst="roundRect">
            <a:avLst>
              <a:gd name="adj" fmla="val 40000"/>
            </a:avLst>
          </a:prstGeom>
          <a:solidFill>
            <a:srgbClr val="EAB63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42416" y="515721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SevOne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42416" y="54864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i="1" dirty="0">
                <a:solidFill>
                  <a:srgbClr val="EAB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devices</a:t>
            </a:r>
            <a:endParaRPr lang="en-US" sz="930" dirty="0"/>
          </a:p>
        </p:txBody>
      </p:sp>
      <p:sp>
        <p:nvSpPr>
          <p:cNvPr id="31" name="Text 29"/>
          <p:cNvSpPr txBox="1"/>
          <p:nvPr/>
        </p:nvSpPr>
        <p:spPr>
          <a:xfrm>
            <a:off x="4178808" y="5102352"/>
            <a:ext cx="726307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queue depth, discards, interface utilisation, CRC errors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60167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on  site  ·  cell  ·  transport-path  ·  5-minute bin.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 ISOLATION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56A6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38404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TIMELINE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6809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five raw feeds to one feature table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402336" cy="40233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56A6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16916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Serving-cell resolution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453128" y="1645920"/>
            <a:ext cx="764712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Ookla / QoE test → its serving site by reported cell id, else geo + strongest RSRP; low-confidence matches flagged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68096" y="2203704"/>
            <a:ext cx="36576" cy="402336"/>
          </a:xfrm>
          <a:prstGeom prst="line">
            <a:avLst/>
          </a:prstGeom>
          <a:noFill/>
          <a:ln w="13970">
            <a:solidFill>
              <a:srgbClr val="31416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651760"/>
            <a:ext cx="402336" cy="40233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56A6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25603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join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453128" y="2514600"/>
            <a:ext cx="764712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→ transport path → its access, pre-agg and agg links → the TWAMP sessions and SevOne interfaces on them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68096" y="3072384"/>
            <a:ext cx="36576" cy="402336"/>
          </a:xfrm>
          <a:prstGeom prst="line">
            <a:avLst/>
          </a:prstGeom>
          <a:noFill/>
          <a:ln w="13970">
            <a:solidFill>
              <a:srgbClr val="31416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520440"/>
            <a:ext cx="402336" cy="40233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56A6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34290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alignment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453128" y="3383280"/>
            <a:ext cx="764712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feed bucketed to the same 5-minute grid, then rolled up hourly for the dashboard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68096" y="3941064"/>
            <a:ext cx="36576" cy="402336"/>
          </a:xfrm>
          <a:prstGeom prst="line">
            <a:avLst/>
          </a:prstGeom>
          <a:noFill/>
          <a:ln w="13970">
            <a:solidFill>
              <a:srgbClr val="31416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4389120"/>
            <a:ext cx="402336" cy="40233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56A6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4389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70432" y="42976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table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453128" y="4251960"/>
            <a:ext cx="764712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(site, hour): radio, session, app and transport-path KPIs together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68096" y="4809744"/>
            <a:ext cx="36576" cy="402336"/>
          </a:xfrm>
          <a:prstGeom prst="line">
            <a:avLst/>
          </a:prstGeom>
          <a:noFill/>
          <a:ln w="13970">
            <a:solidFill>
              <a:srgbClr val="31416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5257800"/>
            <a:ext cx="402336" cy="40233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56A6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6928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170432" y="516636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baselines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453128" y="5120640"/>
            <a:ext cx="764712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vs the site's own trailing median / inter-decile range AND its morphology + load peer group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 ISOLATION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56A6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38404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6809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 — batch now, streaming later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1597979" cy="1005840"/>
          </a:xfrm>
          <a:prstGeom prst="chevron">
            <a:avLst/>
          </a:prstGeom>
          <a:solidFill>
            <a:srgbClr val="223251"/>
          </a:solidFill>
          <a:ln w="12700">
            <a:solidFill>
              <a:srgbClr val="31416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1828800"/>
            <a:ext cx="139681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46619" y="1828800"/>
            <a:ext cx="1597979" cy="1005840"/>
          </a:xfrm>
          <a:prstGeom prst="chevron">
            <a:avLst/>
          </a:prstGeom>
          <a:solidFill>
            <a:srgbClr val="223251"/>
          </a:solidFill>
          <a:ln w="12700">
            <a:solidFill>
              <a:srgbClr val="31416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83779" y="1828800"/>
            <a:ext cx="139681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26311" y="1828800"/>
            <a:ext cx="1597979" cy="1005840"/>
          </a:xfrm>
          <a:prstGeom prst="chevron">
            <a:avLst/>
          </a:prstGeom>
          <a:solidFill>
            <a:srgbClr val="223251"/>
          </a:solidFill>
          <a:ln w="12700">
            <a:solidFill>
              <a:srgbClr val="31416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63471" y="1828800"/>
            <a:ext cx="139681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6002" y="1828800"/>
            <a:ext cx="1597979" cy="1005840"/>
          </a:xfrm>
          <a:prstGeom prst="chevron">
            <a:avLst/>
          </a:prstGeom>
          <a:solidFill>
            <a:srgbClr val="223251"/>
          </a:solidFill>
          <a:ln w="12700">
            <a:solidFill>
              <a:srgbClr val="31416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43162" y="1828800"/>
            <a:ext cx="139681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85693" y="1828800"/>
            <a:ext cx="1597979" cy="1005840"/>
          </a:xfrm>
          <a:prstGeom prst="chevron">
            <a:avLst/>
          </a:prstGeom>
          <a:solidFill>
            <a:srgbClr val="223251"/>
          </a:solidFill>
          <a:ln w="12700">
            <a:solidFill>
              <a:srgbClr val="31416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22853" y="1828800"/>
            <a:ext cx="139681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/ RAN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465385" y="1828800"/>
            <a:ext cx="1597979" cy="1005840"/>
          </a:xfrm>
          <a:prstGeom prst="chevron">
            <a:avLst/>
          </a:prstGeom>
          <a:solidFill>
            <a:srgbClr val="223251"/>
          </a:solidFill>
          <a:ln w="12700">
            <a:solidFill>
              <a:srgbClr val="31416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02545" y="1828800"/>
            <a:ext cx="139681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(graph RCA)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045076" y="1828800"/>
            <a:ext cx="1597979" cy="1005840"/>
          </a:xfrm>
          <a:prstGeom prst="chevron">
            <a:avLst/>
          </a:prstGeom>
          <a:solidFill>
            <a:srgbClr val="F2822F"/>
          </a:solidFill>
          <a:ln w="12700">
            <a:solidFill>
              <a:srgbClr val="F2822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182236" y="1828800"/>
            <a:ext cx="139681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 list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3429000"/>
            <a:ext cx="5300320" cy="2194560"/>
          </a:xfrm>
          <a:prstGeom prst="roundRect">
            <a:avLst>
              <a:gd name="adj" fmla="val 3333"/>
            </a:avLst>
          </a:prstGeom>
          <a:solidFill>
            <a:srgbClr val="1A2740"/>
          </a:solidFill>
          <a:ln w="9525">
            <a:solidFill>
              <a:srgbClr val="56A6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5528" y="3566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batch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968496"/>
            <a:ext cx="484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generator writes the SQLite warehouse + Parquet raw layer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generate → na analytics → na report  (or the Settings page)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reads pre-computed serving tables — always fast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24448" y="3429000"/>
            <a:ext cx="5300320" cy="2194560"/>
          </a:xfrm>
          <a:prstGeom prst="roundRect">
            <a:avLst>
              <a:gd name="adj" fmla="val 3333"/>
            </a:avLst>
          </a:prstGeom>
          <a:solidFill>
            <a:srgbClr val="1A2740"/>
          </a:solidFill>
          <a:ln w="9525">
            <a:solidFill>
              <a:srgbClr val="45C48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53048" y="3566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C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— streaming (Phase 2)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553048" y="3968496"/>
            <a:ext cx="484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feeds land continuously via the data-acquisition / ingestion layer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 rollups on arrival; analytics recompute on a schedule (e.g. hourly)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serving tables, same dashboard — plus alerting on new priority sites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5870448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warehouse  ·  FastAPI backend  ·  React dashboard  ·  background job runner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 ISOLATION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38404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ISOLATION WORKS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6809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vs RAN — the tell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3503066" cy="2880360"/>
          </a:xfrm>
          <a:prstGeom prst="roundRect">
            <a:avLst>
              <a:gd name="adj" fmla="val 2540"/>
            </a:avLst>
          </a:prstGeom>
          <a:solidFill>
            <a:srgbClr val="1A2740"/>
          </a:solidFill>
          <a:ln w="9525">
            <a:solidFill>
              <a:srgbClr val="56A6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5528" y="1938528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The RTT split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359152"/>
            <a:ext cx="30458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client RTT = radio + the whole transport path (round trip). TCP server RTT = internet only, site-independent — the control.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749808" y="3822192"/>
            <a:ext cx="3137306" cy="694944"/>
          </a:xfrm>
          <a:prstGeom prst="roundRect">
            <a:avLst>
              <a:gd name="adj" fmla="val 9211"/>
            </a:avLst>
          </a:prstGeom>
          <a:solidFill>
            <a:srgbClr val="0B1220"/>
          </a:solidFill>
          <a:ln w="12700">
            <a:solidFill>
              <a:srgbClr val="56A6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6968" y="3822192"/>
            <a:ext cx="286298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RTT up while server RTT flat  →  access / transport, not the internet.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44314" y="1783080"/>
            <a:ext cx="3503066" cy="2880360"/>
          </a:xfrm>
          <a:prstGeom prst="roundRect">
            <a:avLst>
              <a:gd name="adj" fmla="val 2540"/>
            </a:avLst>
          </a:prstGeom>
          <a:solidFill>
            <a:srgbClr val="1A2740"/>
          </a:solidFill>
          <a:ln w="9525">
            <a:solidFill>
              <a:srgbClr val="F282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914" y="1938528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Signature match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914" y="2359152"/>
            <a:ext cx="30458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Radio: RSRP / RSRQ degraded, PRB near 100 %, usually one sector. Transport: TWAMP loss / jitter, SevOne queue / CRC, per-link delay — the transport layer's own instruments.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4527194" y="3822192"/>
            <a:ext cx="3137306" cy="694944"/>
          </a:xfrm>
          <a:prstGeom prst="roundRect">
            <a:avLst>
              <a:gd name="adj" fmla="val 9211"/>
            </a:avLst>
          </a:prstGeom>
          <a:solidFill>
            <a:srgbClr val="0B1220"/>
          </a:solidFill>
          <a:ln w="12700">
            <a:solidFill>
              <a:srgbClr val="F282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4354" y="3822192"/>
            <a:ext cx="286298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Pure-transport instruments lit, radio clean  →  transport.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21701" y="1783080"/>
            <a:ext cx="3503066" cy="2880360"/>
          </a:xfrm>
          <a:prstGeom prst="roundRect">
            <a:avLst>
              <a:gd name="adj" fmla="val 2540"/>
            </a:avLst>
          </a:prstGeom>
          <a:solidFill>
            <a:srgbClr val="1A2740"/>
          </a:solidFill>
          <a:ln w="9525">
            <a:solidFill>
              <a:srgbClr val="45C48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50301" y="1938528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C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Common cause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50301" y="2359152"/>
            <a:ext cx="30458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radio fault cannot degrade 18 sites at once. A shared backhaul link does it every time.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8304581" y="3822192"/>
            <a:ext cx="3137306" cy="694944"/>
          </a:xfrm>
          <a:prstGeom prst="roundRect">
            <a:avLst>
              <a:gd name="adj" fmla="val 9211"/>
            </a:avLst>
          </a:prstGeom>
          <a:solidFill>
            <a:srgbClr val="0B1220"/>
          </a:solidFill>
          <a:ln w="12700">
            <a:solidFill>
              <a:srgbClr val="45C48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41741" y="3822192"/>
            <a:ext cx="286298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‘% of sibling sites on the shared uplink also degraded’ is the strongest tell.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" y="5029200"/>
            <a:ext cx="1874520" cy="365760"/>
          </a:xfrm>
          <a:prstGeom prst="roundRect">
            <a:avLst>
              <a:gd name="adj" fmla="val 35000"/>
            </a:avLst>
          </a:prstGeom>
          <a:solidFill>
            <a:srgbClr val="223251"/>
          </a:solidFill>
          <a:ln w="12700">
            <a:solidFill>
              <a:srgbClr val="F2822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50292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15768" y="5029200"/>
            <a:ext cx="1874520" cy="365760"/>
          </a:xfrm>
          <a:prstGeom prst="roundRect">
            <a:avLst>
              <a:gd name="adj" fmla="val 35000"/>
            </a:avLst>
          </a:prstGeom>
          <a:solidFill>
            <a:srgbClr val="223251"/>
          </a:solidFill>
          <a:ln w="12700">
            <a:solidFill>
              <a:srgbClr val="56A6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715768" y="50292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64608" y="5029200"/>
            <a:ext cx="1874520" cy="365760"/>
          </a:xfrm>
          <a:prstGeom prst="roundRect">
            <a:avLst>
              <a:gd name="adj" fmla="val 35000"/>
            </a:avLst>
          </a:prstGeom>
          <a:solidFill>
            <a:srgbClr val="223251"/>
          </a:solidFill>
          <a:ln w="12700">
            <a:solidFill>
              <a:srgbClr val="AE82E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64608" y="50292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E8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013448" y="5029200"/>
            <a:ext cx="1874520" cy="365760"/>
          </a:xfrm>
          <a:prstGeom prst="roundRect">
            <a:avLst>
              <a:gd name="adj" fmla="val 35000"/>
            </a:avLst>
          </a:prstGeom>
          <a:solidFill>
            <a:srgbClr val="223251"/>
          </a:solidFill>
          <a:ln w="12700">
            <a:solidFill>
              <a:srgbClr val="97A5B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13448" y="50292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299448" y="5029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a calibrated confidence score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576072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one alone is weak — together they give a class and a confidence.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 ISOLATION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56A6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38404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6809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scoring — which sites, in what order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11057839" cy="640080"/>
          </a:xfrm>
          <a:prstGeom prst="roundRect">
            <a:avLst>
              <a:gd name="adj" fmla="val 11429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5528" y="1783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Per-KPI severity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493008" y="1783080"/>
            <a:ext cx="79488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exceedance of each headline KPI vs its baseline, session-weighted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532888"/>
            <a:ext cx="11057839" cy="640080"/>
          </a:xfrm>
          <a:prstGeom prst="roundRect">
            <a:avLst>
              <a:gd name="adj" fmla="val 11429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253288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493008" y="2532888"/>
            <a:ext cx="79488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each severity, then a weighted blend over the 5 headline KPIs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3282696"/>
            <a:ext cx="11057839" cy="640080"/>
          </a:xfrm>
          <a:prstGeom prst="roundRect">
            <a:avLst>
              <a:gd name="adj" fmla="val 11429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328269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weighting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493008" y="3282696"/>
            <a:ext cx="79488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sessions impacted  × users impacted  (from the raw session records)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4032504"/>
            <a:ext cx="11057839" cy="640080"/>
          </a:xfrm>
          <a:prstGeom prst="roundRect">
            <a:avLst>
              <a:gd name="adj" fmla="val 11429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" y="403250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window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493008" y="4032504"/>
            <a:ext cx="79488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6-hour span with the largest summed degradation — where to look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4782312"/>
            <a:ext cx="11057839" cy="640080"/>
          </a:xfrm>
          <a:prstGeom prst="roundRect">
            <a:avLst>
              <a:gd name="adj" fmla="val 11429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5528" y="47823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slice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493008" y="4782312"/>
            <a:ext cx="79488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≈ 75–120 by impact → flagged for the Phase-2 audit, exportable to Excel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580644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is deliberately transparent — a weighted composite, not a black box — so an engineer can see why a site is at #3.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 ISOLATION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38404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ENGINE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6809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∪ LightGBM + SHAP, calibrated ensemble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11057839" cy="896112"/>
          </a:xfrm>
          <a:prstGeom prst="roundRect">
            <a:avLst>
              <a:gd name="adj" fmla="val 8163"/>
            </a:avLst>
          </a:prstGeom>
          <a:solidFill>
            <a:srgbClr val="1A2740"/>
          </a:solidFill>
          <a:ln w="9525">
            <a:solidFill>
              <a:srgbClr val="F282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5528" y="188366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194560"/>
            <a:ext cx="106006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thresholds on the robust-z features; separates pure-transport signals from ambiguous ones; emits a class + a plain-English evidence list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566928" y="2807208"/>
            <a:ext cx="11057839" cy="896112"/>
          </a:xfrm>
          <a:prstGeom prst="roundRect">
            <a:avLst>
              <a:gd name="adj" fmla="val 8163"/>
            </a:avLst>
          </a:prstGeom>
          <a:solidFill>
            <a:srgbClr val="1A2740"/>
          </a:solidFill>
          <a:ln w="9525">
            <a:solidFill>
              <a:srgbClr val="56A6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290779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classifier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3218688"/>
            <a:ext cx="106006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trees, multiclass, class-weight balanced, trained on the injected ground-truth labels per (site, hour)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66928" y="3831336"/>
            <a:ext cx="11057839" cy="896112"/>
          </a:xfrm>
          <a:prstGeom prst="roundRect">
            <a:avLst>
              <a:gd name="adj" fmla="val 8163"/>
            </a:avLst>
          </a:prstGeom>
          <a:solidFill>
            <a:srgbClr val="1A2740"/>
          </a:solidFill>
          <a:ln w="9525">
            <a:solidFill>
              <a:srgbClr val="AE82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39319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E8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4242816"/>
            <a:ext cx="106006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values on the booster → the top features that drove each per-site call, shown as bars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566928" y="4855464"/>
            <a:ext cx="11057839" cy="896112"/>
          </a:xfrm>
          <a:prstGeom prst="roundRect">
            <a:avLst>
              <a:gd name="adj" fmla="val 8163"/>
            </a:avLst>
          </a:prstGeom>
          <a:solidFill>
            <a:srgbClr val="1A2740"/>
          </a:solidFill>
          <a:ln w="9525">
            <a:solidFill>
              <a:srgbClr val="45C48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" y="49560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5C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ensemble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5266944"/>
            <a:ext cx="106006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isotonic-calibrated; rule + ML combined, with a guardrail so a confident RAN rule beats an over-eager transport ML vote</a:t>
            </a:r>
            <a:endParaRPr lang="en-US" sz="98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9436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against ground truth every run: precision / recall / F1 per class, confusion matrix — reported in the dashboard and the notebook.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 ISOLATION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56A6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38404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ANALYTICS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6809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· correlation · variability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3503066" cy="2514600"/>
          </a:xfrm>
          <a:prstGeom prst="roundRect">
            <a:avLst>
              <a:gd name="adj" fmla="val 2909"/>
            </a:avLst>
          </a:prstGeom>
          <a:solidFill>
            <a:srgbClr val="1A2740"/>
          </a:solidFill>
          <a:ln w="9525">
            <a:solidFill>
              <a:srgbClr val="F282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938528"/>
            <a:ext cx="31373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432304"/>
            <a:ext cx="310073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96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seasonal-residual + robust threshold, per KPI series</a:t>
            </a:r>
            <a:endParaRPr lang="en-US" sz="96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96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+ PCA reconstruction error, multivariate</a:t>
            </a:r>
            <a:endParaRPr lang="en-US" sz="96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96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by time + topology into candidate incidents</a:t>
            </a:r>
            <a:endParaRPr lang="en-US" sz="96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96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to ground truth by site-set IoU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4344314" y="1783080"/>
            <a:ext cx="3503066" cy="2514600"/>
          </a:xfrm>
          <a:prstGeom prst="roundRect">
            <a:avLst>
              <a:gd name="adj" fmla="val 2909"/>
            </a:avLst>
          </a:prstGeom>
          <a:solidFill>
            <a:srgbClr val="1A2740"/>
          </a:solidFill>
          <a:ln w="9525">
            <a:solidFill>
              <a:srgbClr val="56A6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45482" y="1938528"/>
            <a:ext cx="31373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45482" y="2432304"/>
            <a:ext cx="310073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96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+ partial correlation between KPI pairs</a:t>
            </a:r>
            <a:endParaRPr lang="en-US" sz="96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96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/ lag cross-correlation — finds precursors</a:t>
            </a:r>
            <a:endParaRPr lang="en-US" sz="96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96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SevOne queue buildup leads the QoE drop</a:t>
            </a:r>
            <a:endParaRPr lang="en-US" sz="96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96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per-site layer driver split (transport vs radio)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8121701" y="1783080"/>
            <a:ext cx="3503066" cy="2514600"/>
          </a:xfrm>
          <a:prstGeom prst="roundRect">
            <a:avLst>
              <a:gd name="adj" fmla="val 2909"/>
            </a:avLst>
          </a:prstGeom>
          <a:solidFill>
            <a:srgbClr val="1A2740"/>
          </a:solidFill>
          <a:ln w="9525">
            <a:solidFill>
              <a:srgbClr val="45C48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2869" y="1938528"/>
            <a:ext cx="31373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C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Variability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322869" y="2432304"/>
            <a:ext cx="310073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96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components: site / hour / day / residual</a:t>
            </a:r>
            <a:endParaRPr lang="en-US" sz="96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96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CV, IQR, busy-hour vs off-peak spread</a:t>
            </a:r>
            <a:endParaRPr lang="en-US" sz="96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96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drift, week over week</a:t>
            </a:r>
            <a:endParaRPr lang="en-US" sz="96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96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high-variance / acceptable-mean sites</a:t>
            </a:r>
            <a:endParaRPr lang="en-US" sz="9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 ISOLATION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38404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6809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 the fault to a link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8308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transport network is a tree in a networkx graph. Given the set of sites degraded together in one window, a greedy minimal hitting set finds the smallest set of shared links whose failure explains every one of them — a Noisy-OR-style fault localisation.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42900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attribution + anomaly cluster + changepoint timing + topology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= fraction of affected sites the hitting set explains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to ground truth (demo) and given a recommended technician action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680960" y="1783080"/>
            <a:ext cx="3943807" cy="4023360"/>
          </a:xfrm>
          <a:prstGeom prst="roundRect">
            <a:avLst>
              <a:gd name="adj" fmla="val 1855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9944" y="2103120"/>
            <a:ext cx="1005840" cy="365760"/>
          </a:xfrm>
          <a:prstGeom prst="roundRect">
            <a:avLst>
              <a:gd name="adj" fmla="val 17500"/>
            </a:avLst>
          </a:prstGeom>
          <a:solidFill>
            <a:srgbClr val="223251"/>
          </a:solidFill>
          <a:ln w="17780">
            <a:solidFill>
              <a:srgbClr val="56A6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9944" y="21031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961224" y="2926080"/>
            <a:ext cx="822960" cy="365760"/>
          </a:xfrm>
          <a:prstGeom prst="roundRect">
            <a:avLst>
              <a:gd name="adj" fmla="val 17500"/>
            </a:avLst>
          </a:prstGeom>
          <a:solidFill>
            <a:srgbClr val="223251"/>
          </a:solidFill>
          <a:ln w="17780">
            <a:solidFill>
              <a:srgbClr val="56A6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61224" y="2926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 flipH="1">
            <a:off x="8372704" y="2468880"/>
            <a:ext cx="1280160" cy="457200"/>
          </a:xfrm>
          <a:prstGeom prst="line">
            <a:avLst/>
          </a:prstGeom>
          <a:noFill/>
          <a:ln w="13970">
            <a:solidFill>
              <a:srgbClr val="31416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41384" y="2926080"/>
            <a:ext cx="822960" cy="365760"/>
          </a:xfrm>
          <a:prstGeom prst="roundRect">
            <a:avLst>
              <a:gd name="adj" fmla="val 17500"/>
            </a:avLst>
          </a:prstGeom>
          <a:solidFill>
            <a:srgbClr val="223251"/>
          </a:solidFill>
          <a:ln w="17780">
            <a:solidFill>
              <a:srgbClr val="56A6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41384" y="2926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652864" y="2468880"/>
            <a:ext cx="36576" cy="457200"/>
          </a:xfrm>
          <a:prstGeom prst="line">
            <a:avLst/>
          </a:prstGeom>
          <a:noFill/>
          <a:ln w="13970">
            <a:solidFill>
              <a:srgbClr val="31416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21544" y="2926080"/>
            <a:ext cx="822960" cy="365760"/>
          </a:xfrm>
          <a:prstGeom prst="roundRect">
            <a:avLst>
              <a:gd name="adj" fmla="val 17500"/>
            </a:avLst>
          </a:prstGeom>
          <a:solidFill>
            <a:srgbClr val="223251"/>
          </a:solidFill>
          <a:ln w="17780">
            <a:solidFill>
              <a:srgbClr val="56A6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21544" y="2926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652864" y="2468880"/>
            <a:ext cx="1280160" cy="457200"/>
          </a:xfrm>
          <a:prstGeom prst="line">
            <a:avLst/>
          </a:prstGeom>
          <a:noFill/>
          <a:ln w="13970">
            <a:solidFill>
              <a:srgbClr val="31416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24064" y="3794760"/>
            <a:ext cx="192024" cy="261153"/>
          </a:xfrm>
          <a:prstGeom prst="triangle">
            <a:avLst/>
          </a:prstGeom>
          <a:solidFill>
            <a:srgbClr val="0F1626"/>
          </a:solidFill>
          <a:ln w="25400">
            <a:solidFill>
              <a:srgbClr val="97A5B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20076" y="4055913"/>
            <a:ext cx="18288" cy="122895"/>
          </a:xfrm>
          <a:prstGeom prst="line">
            <a:avLst/>
          </a:prstGeom>
          <a:noFill/>
          <a:ln w="25400">
            <a:solidFill>
              <a:srgbClr val="97A5B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97033" y="3744834"/>
            <a:ext cx="46086" cy="46086"/>
          </a:xfrm>
          <a:prstGeom prst="ellipse">
            <a:avLst/>
          </a:prstGeom>
          <a:solidFill>
            <a:srgbClr val="97A5BD"/>
          </a:solidFill>
          <a:ln/>
        </p:spPr>
      </p:sp>
      <p:sp>
        <p:nvSpPr>
          <p:cNvPr id="24" name="Shape 22"/>
          <p:cNvSpPr/>
          <p:nvPr/>
        </p:nvSpPr>
        <p:spPr>
          <a:xfrm>
            <a:off x="8281264" y="3794760"/>
            <a:ext cx="192024" cy="261153"/>
          </a:xfrm>
          <a:prstGeom prst="triangle">
            <a:avLst/>
          </a:prstGeom>
          <a:solidFill>
            <a:srgbClr val="0F1626"/>
          </a:solidFill>
          <a:ln w="25400">
            <a:solidFill>
              <a:srgbClr val="97A5B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77276" y="4055913"/>
            <a:ext cx="18288" cy="122895"/>
          </a:xfrm>
          <a:prstGeom prst="line">
            <a:avLst/>
          </a:prstGeom>
          <a:noFill/>
          <a:ln w="25400">
            <a:solidFill>
              <a:srgbClr val="97A5B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54233" y="3744834"/>
            <a:ext cx="46086" cy="46086"/>
          </a:xfrm>
          <a:prstGeom prst="ellipse">
            <a:avLst/>
          </a:prstGeom>
          <a:solidFill>
            <a:srgbClr val="97A5BD"/>
          </a:solidFill>
          <a:ln/>
        </p:spPr>
      </p:sp>
      <p:sp>
        <p:nvSpPr>
          <p:cNvPr id="27" name="Shape 25"/>
          <p:cNvSpPr/>
          <p:nvPr/>
        </p:nvSpPr>
        <p:spPr>
          <a:xfrm>
            <a:off x="8738464" y="3794760"/>
            <a:ext cx="192024" cy="261153"/>
          </a:xfrm>
          <a:prstGeom prst="triangle">
            <a:avLst/>
          </a:prstGeom>
          <a:solidFill>
            <a:srgbClr val="0F1626"/>
          </a:solidFill>
          <a:ln w="25400">
            <a:solidFill>
              <a:srgbClr val="97A5B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34476" y="4055913"/>
            <a:ext cx="18288" cy="122895"/>
          </a:xfrm>
          <a:prstGeom prst="line">
            <a:avLst/>
          </a:prstGeom>
          <a:noFill/>
          <a:ln w="25400">
            <a:solidFill>
              <a:srgbClr val="97A5B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11433" y="3744834"/>
            <a:ext cx="46086" cy="46086"/>
          </a:xfrm>
          <a:prstGeom prst="ellipse">
            <a:avLst/>
          </a:prstGeom>
          <a:solidFill>
            <a:srgbClr val="97A5BD"/>
          </a:solidFill>
          <a:ln/>
        </p:spPr>
      </p:sp>
      <p:sp>
        <p:nvSpPr>
          <p:cNvPr id="30" name="Shape 28"/>
          <p:cNvSpPr/>
          <p:nvPr/>
        </p:nvSpPr>
        <p:spPr>
          <a:xfrm>
            <a:off x="9195664" y="3794760"/>
            <a:ext cx="192024" cy="261153"/>
          </a:xfrm>
          <a:prstGeom prst="triangle">
            <a:avLst/>
          </a:prstGeom>
          <a:solidFill>
            <a:srgbClr val="0F1626"/>
          </a:solidFill>
          <a:ln w="25400">
            <a:solidFill>
              <a:srgbClr val="F2822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91676" y="4055913"/>
            <a:ext cx="18288" cy="122895"/>
          </a:xfrm>
          <a:prstGeom prst="line">
            <a:avLst/>
          </a:prstGeom>
          <a:noFill/>
          <a:ln w="25400">
            <a:solidFill>
              <a:srgbClr val="F2822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68633" y="3744834"/>
            <a:ext cx="46086" cy="46086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33" name="Shape 31"/>
          <p:cNvSpPr/>
          <p:nvPr/>
        </p:nvSpPr>
        <p:spPr>
          <a:xfrm>
            <a:off x="9652864" y="3794760"/>
            <a:ext cx="192024" cy="261153"/>
          </a:xfrm>
          <a:prstGeom prst="triangle">
            <a:avLst/>
          </a:prstGeom>
          <a:solidFill>
            <a:srgbClr val="0F1626"/>
          </a:solidFill>
          <a:ln w="25400">
            <a:solidFill>
              <a:srgbClr val="F2822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48876" y="4055913"/>
            <a:ext cx="18288" cy="122895"/>
          </a:xfrm>
          <a:prstGeom prst="line">
            <a:avLst/>
          </a:prstGeom>
          <a:noFill/>
          <a:ln w="25400">
            <a:solidFill>
              <a:srgbClr val="F2822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25833" y="3744834"/>
            <a:ext cx="46086" cy="46086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36" name="Shape 34"/>
          <p:cNvSpPr/>
          <p:nvPr/>
        </p:nvSpPr>
        <p:spPr>
          <a:xfrm>
            <a:off x="10110064" y="3794760"/>
            <a:ext cx="192024" cy="261153"/>
          </a:xfrm>
          <a:prstGeom prst="triangle">
            <a:avLst/>
          </a:prstGeom>
          <a:solidFill>
            <a:srgbClr val="0F1626"/>
          </a:solidFill>
          <a:ln w="25400">
            <a:solidFill>
              <a:srgbClr val="F2822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206076" y="4055913"/>
            <a:ext cx="18288" cy="122895"/>
          </a:xfrm>
          <a:prstGeom prst="line">
            <a:avLst/>
          </a:prstGeom>
          <a:noFill/>
          <a:ln w="25400">
            <a:solidFill>
              <a:srgbClr val="F2822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183033" y="3744834"/>
            <a:ext cx="46086" cy="46086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39" name="Shape 37"/>
          <p:cNvSpPr/>
          <p:nvPr/>
        </p:nvSpPr>
        <p:spPr>
          <a:xfrm>
            <a:off x="10567264" y="3794760"/>
            <a:ext cx="192024" cy="261153"/>
          </a:xfrm>
          <a:prstGeom prst="triangle">
            <a:avLst/>
          </a:prstGeom>
          <a:solidFill>
            <a:srgbClr val="0F1626"/>
          </a:solidFill>
          <a:ln w="25400">
            <a:solidFill>
              <a:srgbClr val="97A5B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663276" y="4055913"/>
            <a:ext cx="18288" cy="122895"/>
          </a:xfrm>
          <a:prstGeom prst="line">
            <a:avLst/>
          </a:prstGeom>
          <a:noFill/>
          <a:ln w="25400">
            <a:solidFill>
              <a:srgbClr val="97A5B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640233" y="3744834"/>
            <a:ext cx="46086" cy="46086"/>
          </a:xfrm>
          <a:prstGeom prst="ellipse">
            <a:avLst/>
          </a:prstGeom>
          <a:solidFill>
            <a:srgbClr val="97A5BD"/>
          </a:solidFill>
          <a:ln/>
        </p:spPr>
      </p:sp>
      <p:sp>
        <p:nvSpPr>
          <p:cNvPr id="42" name="Shape 40"/>
          <p:cNvSpPr/>
          <p:nvPr/>
        </p:nvSpPr>
        <p:spPr>
          <a:xfrm>
            <a:off x="11024464" y="3794760"/>
            <a:ext cx="192024" cy="261153"/>
          </a:xfrm>
          <a:prstGeom prst="triangle">
            <a:avLst/>
          </a:prstGeom>
          <a:solidFill>
            <a:srgbClr val="0F1626"/>
          </a:solidFill>
          <a:ln w="25400">
            <a:solidFill>
              <a:srgbClr val="97A5B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120476" y="4055913"/>
            <a:ext cx="18288" cy="122895"/>
          </a:xfrm>
          <a:prstGeom prst="line">
            <a:avLst/>
          </a:prstGeom>
          <a:noFill/>
          <a:ln w="25400">
            <a:solidFill>
              <a:srgbClr val="97A5B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097433" y="3744834"/>
            <a:ext cx="46086" cy="46086"/>
          </a:xfrm>
          <a:prstGeom prst="ellipse">
            <a:avLst/>
          </a:prstGeom>
          <a:solidFill>
            <a:srgbClr val="97A5BD"/>
          </a:solidFill>
          <a:ln/>
        </p:spPr>
      </p:sp>
      <p:sp>
        <p:nvSpPr>
          <p:cNvPr id="45" name="Shape 43"/>
          <p:cNvSpPr/>
          <p:nvPr/>
        </p:nvSpPr>
        <p:spPr>
          <a:xfrm>
            <a:off x="11481664" y="3794760"/>
            <a:ext cx="192024" cy="261153"/>
          </a:xfrm>
          <a:prstGeom prst="triangle">
            <a:avLst/>
          </a:prstGeom>
          <a:solidFill>
            <a:srgbClr val="0F1626"/>
          </a:solidFill>
          <a:ln w="25400">
            <a:solidFill>
              <a:srgbClr val="97A5B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577676" y="4055913"/>
            <a:ext cx="18288" cy="122895"/>
          </a:xfrm>
          <a:prstGeom prst="line">
            <a:avLst/>
          </a:prstGeom>
          <a:noFill/>
          <a:ln w="25400">
            <a:solidFill>
              <a:srgbClr val="97A5B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554633" y="3744834"/>
            <a:ext cx="46086" cy="46086"/>
          </a:xfrm>
          <a:prstGeom prst="ellipse">
            <a:avLst/>
          </a:prstGeom>
          <a:solidFill>
            <a:srgbClr val="97A5BD"/>
          </a:solidFill>
          <a:ln/>
        </p:spPr>
      </p:sp>
      <p:sp>
        <p:nvSpPr>
          <p:cNvPr id="48" name="Shape 46"/>
          <p:cNvSpPr/>
          <p:nvPr/>
        </p:nvSpPr>
        <p:spPr>
          <a:xfrm>
            <a:off x="9634576" y="2468880"/>
            <a:ext cx="36576" cy="457200"/>
          </a:xfrm>
          <a:prstGeom prst="line">
            <a:avLst/>
          </a:prstGeom>
          <a:noFill/>
          <a:ln w="38100">
            <a:solidFill>
              <a:srgbClr val="F2822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909560" y="4937760"/>
            <a:ext cx="348660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PA→AGG link  →  9 sites degrade together  →  hitting set = 1 link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 ISOLATION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45C48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38404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5C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ENGINE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6809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synthetic — on purpose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5029200" cy="3931920"/>
          </a:xfrm>
          <a:prstGeom prst="roundRect">
            <a:avLst>
              <a:gd name="adj" fmla="val 1860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5528" y="19385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37744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Data-pipeline engineering is not in scope yet — real feeds arrive in Phase 2.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simulator lets us build and validate the analytics against known answers.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fault injection → every record has a ground-truth cause.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precision / recall of the attribution is a real, reported number.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0" y="1783080"/>
            <a:ext cx="5681167" cy="3931920"/>
          </a:xfrm>
          <a:prstGeom prst="roundRect">
            <a:avLst>
              <a:gd name="adj" fmla="val 1860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9385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layered causal model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2395728"/>
            <a:ext cx="5223967" cy="640080"/>
          </a:xfrm>
          <a:prstGeom prst="roundRect">
            <a:avLst>
              <a:gd name="adj" fmla="val 8571"/>
            </a:avLst>
          </a:prstGeom>
          <a:solidFill>
            <a:srgbClr val="223251"/>
          </a:solidFill>
          <a:ln w="12700">
            <a:solidFill>
              <a:srgbClr val="97A5B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27648" y="239572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2395728"/>
            <a:ext cx="344088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diurnal + weekly load shape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8784184" y="3035808"/>
            <a:ext cx="36576" cy="109728"/>
          </a:xfrm>
          <a:prstGeom prst="line">
            <a:avLst/>
          </a:prstGeom>
          <a:noFill/>
          <a:ln w="13970">
            <a:solidFill>
              <a:srgbClr val="31416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3145536"/>
            <a:ext cx="5223967" cy="640080"/>
          </a:xfrm>
          <a:prstGeom prst="roundRect">
            <a:avLst>
              <a:gd name="adj" fmla="val 8571"/>
            </a:avLst>
          </a:prstGeom>
          <a:solidFill>
            <a:srgbClr val="223251"/>
          </a:solidFill>
          <a:ln w="12700">
            <a:solidFill>
              <a:srgbClr val="56A6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27648" y="3145536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3145536"/>
            <a:ext cx="344088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loss → RSRP · load → PRB · interference → RSRQ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8784184" y="3785616"/>
            <a:ext cx="36576" cy="109728"/>
          </a:xfrm>
          <a:prstGeom prst="line">
            <a:avLst/>
          </a:prstGeom>
          <a:noFill/>
          <a:ln w="13970">
            <a:solidFill>
              <a:srgbClr val="31416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3895344"/>
            <a:ext cx="5223967" cy="640080"/>
          </a:xfrm>
          <a:prstGeom prst="roundRect">
            <a:avLst>
              <a:gd name="adj" fmla="val 8571"/>
            </a:avLst>
          </a:prstGeom>
          <a:solidFill>
            <a:srgbClr val="223251"/>
          </a:solidFill>
          <a:ln w="12700">
            <a:solidFill>
              <a:srgbClr val="F282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27648" y="389534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3895344"/>
            <a:ext cx="344088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M/M/1 queueing on shared links → delay / jitter / loss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8784184" y="4535424"/>
            <a:ext cx="36576" cy="109728"/>
          </a:xfrm>
          <a:prstGeom prst="line">
            <a:avLst/>
          </a:prstGeom>
          <a:noFill/>
          <a:ln w="13970">
            <a:solidFill>
              <a:srgbClr val="31416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4645152"/>
            <a:ext cx="5223967" cy="640080"/>
          </a:xfrm>
          <a:prstGeom prst="roundRect">
            <a:avLst>
              <a:gd name="adj" fmla="val 8571"/>
            </a:avLst>
          </a:prstGeom>
          <a:solidFill>
            <a:srgbClr val="223251"/>
          </a:solidFill>
          <a:ln w="12700">
            <a:solidFill>
              <a:srgbClr val="45C48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27648" y="464515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5C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/ App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4645152"/>
            <a:ext cx="344088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RTT, throughput, VoNR MOS (E-model), YouTube QoE</a:t>
            </a:r>
            <a:endParaRPr lang="en-US" sz="96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59436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is derived from shared latent state — so the KPI correlations are physical, not bolted-on noise.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 ISOLATION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45C48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38404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5C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6809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 — seeded and reproducible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384048" cy="384048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5C48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C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33856" y="1691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904488" y="1664208"/>
            <a:ext cx="819576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→ regions → sites → cells; routers; links; per-site 3-hop path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49808" y="2185416"/>
            <a:ext cx="36576" cy="310896"/>
          </a:xfrm>
          <a:prstGeom prst="line">
            <a:avLst/>
          </a:prstGeom>
          <a:noFill/>
          <a:ln w="13970">
            <a:solidFill>
              <a:srgbClr val="31416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496312"/>
            <a:ext cx="384048" cy="384048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5C48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C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" y="24048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904488" y="2377440"/>
            <a:ext cx="819576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+ Poisson auto faults, resolved to targets &amp; a time window — the GROUND TRUTH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9808" y="2898648"/>
            <a:ext cx="36576" cy="310896"/>
          </a:xfrm>
          <a:prstGeom prst="line">
            <a:avLst/>
          </a:prstGeom>
          <a:noFill/>
          <a:ln w="13970">
            <a:solidFill>
              <a:srgbClr val="31416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209544"/>
            <a:ext cx="384048" cy="384048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5C48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C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" y="311810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metric model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904488" y="3090672"/>
            <a:ext cx="819576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5-min bin: demand → queueing → radio → session / app KPIs, with incident state-deltas injected first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9808" y="3611880"/>
            <a:ext cx="36576" cy="310896"/>
          </a:xfrm>
          <a:prstGeom prst="line">
            <a:avLst/>
          </a:prstGeom>
          <a:noFill/>
          <a:ln w="13970">
            <a:solidFill>
              <a:srgbClr val="31416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922776"/>
            <a:ext cx="384048" cy="384048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5C48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C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33856" y="383133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sessions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3904488" y="3803904"/>
            <a:ext cx="819576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Poisson count of individual Ookla tests / QoE sessions per site-bin, with per-session noise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9808" y="4325112"/>
            <a:ext cx="36576" cy="310896"/>
          </a:xfrm>
          <a:prstGeom prst="line">
            <a:avLst/>
          </a:prstGeom>
          <a:noFill/>
          <a:ln w="13970">
            <a:solidFill>
              <a:srgbClr val="31416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4636008"/>
            <a:ext cx="384048" cy="384048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5C48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6928" y="4636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C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33856" y="45445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rollups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3904488" y="4517136"/>
            <a:ext cx="819576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 parquet → hourly; transport link metrics rolled along each site's path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49808" y="5038344"/>
            <a:ext cx="36576" cy="310896"/>
          </a:xfrm>
          <a:prstGeom prst="line">
            <a:avLst/>
          </a:prstGeom>
          <a:noFill/>
          <a:ln w="13970">
            <a:solidFill>
              <a:srgbClr val="31416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5349240"/>
            <a:ext cx="384048" cy="384048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5C48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66928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C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133856" y="5257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3904488" y="5230368"/>
            <a:ext cx="819576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warehouse: dimensions, ground truth, hourly rollups, raw sessions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612648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~1,200 sites  ·  ~1,450 links  ·  5-minute granularity  ·  1–2 weeks  ·  same seed → byte-identical dataset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 ISOLATION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56A6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38404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MODEL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6809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3-tier transport tree with shared uplinks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6035040" cy="4023360"/>
          </a:xfrm>
          <a:prstGeom prst="roundRect">
            <a:avLst>
              <a:gd name="adj" fmla="val 1818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35808" y="2148840"/>
            <a:ext cx="1097280" cy="365760"/>
          </a:xfrm>
          <a:prstGeom prst="roundRect">
            <a:avLst>
              <a:gd name="adj" fmla="val 17500"/>
            </a:avLst>
          </a:prstGeom>
          <a:solidFill>
            <a:srgbClr val="223251"/>
          </a:solidFill>
          <a:ln w="17780">
            <a:solidFill>
              <a:srgbClr val="56A6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35808" y="2148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527048" y="2971800"/>
            <a:ext cx="822960" cy="365760"/>
          </a:xfrm>
          <a:prstGeom prst="roundRect">
            <a:avLst>
              <a:gd name="adj" fmla="val 17500"/>
            </a:avLst>
          </a:prstGeom>
          <a:solidFill>
            <a:srgbClr val="223251"/>
          </a:solidFill>
          <a:ln w="17780">
            <a:solidFill>
              <a:srgbClr val="56A6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27048" y="2971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 flipH="1">
            <a:off x="1938528" y="2514600"/>
            <a:ext cx="1645920" cy="457200"/>
          </a:xfrm>
          <a:prstGeom prst="line">
            <a:avLst/>
          </a:prstGeom>
          <a:noFill/>
          <a:ln w="13970">
            <a:solidFill>
              <a:srgbClr val="31416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72968" y="2971800"/>
            <a:ext cx="822960" cy="365760"/>
          </a:xfrm>
          <a:prstGeom prst="roundRect">
            <a:avLst>
              <a:gd name="adj" fmla="val 17500"/>
            </a:avLst>
          </a:prstGeom>
          <a:solidFill>
            <a:srgbClr val="223251"/>
          </a:solidFill>
          <a:ln w="17780">
            <a:solidFill>
              <a:srgbClr val="56A6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72968" y="2971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584448" y="2514600"/>
            <a:ext cx="36576" cy="457200"/>
          </a:xfrm>
          <a:prstGeom prst="line">
            <a:avLst/>
          </a:prstGeom>
          <a:noFill/>
          <a:ln w="13970">
            <a:solidFill>
              <a:srgbClr val="31416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18888" y="2971800"/>
            <a:ext cx="822960" cy="365760"/>
          </a:xfrm>
          <a:prstGeom prst="roundRect">
            <a:avLst>
              <a:gd name="adj" fmla="val 17500"/>
            </a:avLst>
          </a:prstGeom>
          <a:solidFill>
            <a:srgbClr val="223251"/>
          </a:solidFill>
          <a:ln w="17780">
            <a:solidFill>
              <a:srgbClr val="56A6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18888" y="2971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584448" y="2514600"/>
            <a:ext cx="1645920" cy="457200"/>
          </a:xfrm>
          <a:prstGeom prst="line">
            <a:avLst/>
          </a:prstGeom>
          <a:noFill/>
          <a:ln w="13970">
            <a:solidFill>
              <a:srgbClr val="31416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5568" y="3794760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223251"/>
          </a:solidFill>
          <a:ln w="17780">
            <a:solidFill>
              <a:srgbClr val="56A6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15568" y="379476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 flipH="1">
            <a:off x="1389888" y="3337560"/>
            <a:ext cx="548640" cy="457200"/>
          </a:xfrm>
          <a:prstGeom prst="line">
            <a:avLst/>
          </a:prstGeom>
          <a:noFill/>
          <a:ln w="13970">
            <a:solidFill>
              <a:srgbClr val="31416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47088" y="3794760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223251"/>
          </a:solidFill>
          <a:ln w="17780">
            <a:solidFill>
              <a:srgbClr val="56A6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847088" y="379476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938528" y="3337560"/>
            <a:ext cx="182880" cy="457200"/>
          </a:xfrm>
          <a:prstGeom prst="line">
            <a:avLst/>
          </a:prstGeom>
          <a:noFill/>
          <a:ln w="13970">
            <a:solidFill>
              <a:srgbClr val="31416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24328" y="3794760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223251"/>
          </a:solidFill>
          <a:ln w="17780">
            <a:solidFill>
              <a:srgbClr val="56A6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624328" y="379476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 flipH="1">
            <a:off x="2898648" y="3337560"/>
            <a:ext cx="685800" cy="457200"/>
          </a:xfrm>
          <a:prstGeom prst="line">
            <a:avLst/>
          </a:prstGeom>
          <a:noFill/>
          <a:ln w="13970">
            <a:solidFill>
              <a:srgbClr val="31416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01568" y="3794760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223251"/>
          </a:solidFill>
          <a:ln w="17780">
            <a:solidFill>
              <a:srgbClr val="56A6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01568" y="379476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584448" y="3337560"/>
            <a:ext cx="91440" cy="457200"/>
          </a:xfrm>
          <a:prstGeom prst="line">
            <a:avLst/>
          </a:prstGeom>
          <a:noFill/>
          <a:ln w="13970">
            <a:solidFill>
              <a:srgbClr val="31416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78808" y="3794760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223251"/>
          </a:solidFill>
          <a:ln w="17780">
            <a:solidFill>
              <a:srgbClr val="56A6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178808" y="379476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 flipH="1">
            <a:off x="4453128" y="3337560"/>
            <a:ext cx="777240" cy="457200"/>
          </a:xfrm>
          <a:prstGeom prst="line">
            <a:avLst/>
          </a:prstGeom>
          <a:noFill/>
          <a:ln w="13970">
            <a:solidFill>
              <a:srgbClr val="31416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10328" y="3794760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223251"/>
          </a:solidFill>
          <a:ln w="17780">
            <a:solidFill>
              <a:srgbClr val="56A6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910328" y="379476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 flipH="1">
            <a:off x="5184648" y="3337560"/>
            <a:ext cx="45720" cy="457200"/>
          </a:xfrm>
          <a:prstGeom prst="line">
            <a:avLst/>
          </a:prstGeom>
          <a:noFill/>
          <a:ln w="13970">
            <a:solidFill>
              <a:srgbClr val="31416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15568" y="4572000"/>
            <a:ext cx="155448" cy="211409"/>
          </a:xfrm>
          <a:prstGeom prst="triangle">
            <a:avLst/>
          </a:prstGeom>
          <a:solidFill>
            <a:srgbClr val="0F1626"/>
          </a:solidFill>
          <a:ln w="25400">
            <a:solidFill>
              <a:srgbClr val="F2822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93292" y="4783409"/>
            <a:ext cx="18288" cy="99487"/>
          </a:xfrm>
          <a:prstGeom prst="line">
            <a:avLst/>
          </a:prstGeom>
          <a:noFill/>
          <a:ln w="25400">
            <a:solidFill>
              <a:srgbClr val="F2822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74638" y="4531584"/>
            <a:ext cx="37308" cy="37308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40" name="Shape 38"/>
          <p:cNvSpPr/>
          <p:nvPr/>
        </p:nvSpPr>
        <p:spPr>
          <a:xfrm>
            <a:off x="1536192" y="4572000"/>
            <a:ext cx="155448" cy="211409"/>
          </a:xfrm>
          <a:prstGeom prst="triangle">
            <a:avLst/>
          </a:prstGeom>
          <a:solidFill>
            <a:srgbClr val="0F1626"/>
          </a:solidFill>
          <a:ln w="25400">
            <a:solidFill>
              <a:srgbClr val="F2822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13916" y="4783409"/>
            <a:ext cx="18288" cy="99487"/>
          </a:xfrm>
          <a:prstGeom prst="line">
            <a:avLst/>
          </a:prstGeom>
          <a:noFill/>
          <a:ln w="25400">
            <a:solidFill>
              <a:srgbClr val="F2822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595262" y="4531584"/>
            <a:ext cx="37308" cy="37308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43" name="Shape 41"/>
          <p:cNvSpPr/>
          <p:nvPr/>
        </p:nvSpPr>
        <p:spPr>
          <a:xfrm>
            <a:off x="1956816" y="4572000"/>
            <a:ext cx="155448" cy="211409"/>
          </a:xfrm>
          <a:prstGeom prst="triangle">
            <a:avLst/>
          </a:prstGeom>
          <a:solidFill>
            <a:srgbClr val="0F1626"/>
          </a:solidFill>
          <a:ln w="25400">
            <a:solidFill>
              <a:srgbClr val="F2822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34540" y="4783409"/>
            <a:ext cx="18288" cy="99487"/>
          </a:xfrm>
          <a:prstGeom prst="line">
            <a:avLst/>
          </a:prstGeom>
          <a:noFill/>
          <a:ln w="25400">
            <a:solidFill>
              <a:srgbClr val="F2822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15886" y="4531584"/>
            <a:ext cx="37308" cy="37308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46" name="Shape 44"/>
          <p:cNvSpPr/>
          <p:nvPr/>
        </p:nvSpPr>
        <p:spPr>
          <a:xfrm>
            <a:off x="2377440" y="4572000"/>
            <a:ext cx="155448" cy="211409"/>
          </a:xfrm>
          <a:prstGeom prst="triangle">
            <a:avLst/>
          </a:prstGeom>
          <a:solidFill>
            <a:srgbClr val="0F1626"/>
          </a:solidFill>
          <a:ln w="25400">
            <a:solidFill>
              <a:srgbClr val="F2822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455164" y="4783409"/>
            <a:ext cx="18288" cy="99487"/>
          </a:xfrm>
          <a:prstGeom prst="line">
            <a:avLst/>
          </a:prstGeom>
          <a:noFill/>
          <a:ln w="25400">
            <a:solidFill>
              <a:srgbClr val="F2822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436510" y="4531584"/>
            <a:ext cx="37308" cy="37308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49" name="Shape 47"/>
          <p:cNvSpPr/>
          <p:nvPr/>
        </p:nvSpPr>
        <p:spPr>
          <a:xfrm>
            <a:off x="2798064" y="4572000"/>
            <a:ext cx="155448" cy="211409"/>
          </a:xfrm>
          <a:prstGeom prst="triangle">
            <a:avLst/>
          </a:prstGeom>
          <a:solidFill>
            <a:srgbClr val="0F1626"/>
          </a:solidFill>
          <a:ln w="25400">
            <a:solidFill>
              <a:srgbClr val="F2822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875788" y="4783409"/>
            <a:ext cx="18288" cy="99487"/>
          </a:xfrm>
          <a:prstGeom prst="line">
            <a:avLst/>
          </a:prstGeom>
          <a:noFill/>
          <a:ln w="25400">
            <a:solidFill>
              <a:srgbClr val="F2822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857134" y="4531584"/>
            <a:ext cx="37308" cy="37308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52" name="Shape 50"/>
          <p:cNvSpPr/>
          <p:nvPr/>
        </p:nvSpPr>
        <p:spPr>
          <a:xfrm>
            <a:off x="3218688" y="4572000"/>
            <a:ext cx="155448" cy="211409"/>
          </a:xfrm>
          <a:prstGeom prst="triangle">
            <a:avLst/>
          </a:prstGeom>
          <a:solidFill>
            <a:srgbClr val="0F1626"/>
          </a:solidFill>
          <a:ln w="25400">
            <a:solidFill>
              <a:srgbClr val="F2822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96412" y="4783409"/>
            <a:ext cx="18288" cy="99487"/>
          </a:xfrm>
          <a:prstGeom prst="line">
            <a:avLst/>
          </a:prstGeom>
          <a:noFill/>
          <a:ln w="25400">
            <a:solidFill>
              <a:srgbClr val="F2822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77758" y="4531584"/>
            <a:ext cx="37308" cy="37308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55" name="Shape 53"/>
          <p:cNvSpPr/>
          <p:nvPr/>
        </p:nvSpPr>
        <p:spPr>
          <a:xfrm>
            <a:off x="3639312" y="4572000"/>
            <a:ext cx="155448" cy="211409"/>
          </a:xfrm>
          <a:prstGeom prst="triangle">
            <a:avLst/>
          </a:prstGeom>
          <a:solidFill>
            <a:srgbClr val="0F1626"/>
          </a:solidFill>
          <a:ln w="25400">
            <a:solidFill>
              <a:srgbClr val="F2822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717036" y="4783409"/>
            <a:ext cx="18288" cy="99487"/>
          </a:xfrm>
          <a:prstGeom prst="line">
            <a:avLst/>
          </a:prstGeom>
          <a:noFill/>
          <a:ln w="25400">
            <a:solidFill>
              <a:srgbClr val="F2822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98382" y="4531584"/>
            <a:ext cx="37308" cy="37308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58" name="Shape 56"/>
          <p:cNvSpPr/>
          <p:nvPr/>
        </p:nvSpPr>
        <p:spPr>
          <a:xfrm>
            <a:off x="4059936" y="4572000"/>
            <a:ext cx="155448" cy="211409"/>
          </a:xfrm>
          <a:prstGeom prst="triangle">
            <a:avLst/>
          </a:prstGeom>
          <a:solidFill>
            <a:srgbClr val="0F1626"/>
          </a:solidFill>
          <a:ln w="25400">
            <a:solidFill>
              <a:srgbClr val="F2822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137660" y="4783409"/>
            <a:ext cx="18288" cy="99487"/>
          </a:xfrm>
          <a:prstGeom prst="line">
            <a:avLst/>
          </a:prstGeom>
          <a:noFill/>
          <a:ln w="25400">
            <a:solidFill>
              <a:srgbClr val="F2822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119006" y="4531584"/>
            <a:ext cx="37308" cy="37308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61" name="Shape 59"/>
          <p:cNvSpPr/>
          <p:nvPr/>
        </p:nvSpPr>
        <p:spPr>
          <a:xfrm>
            <a:off x="4480560" y="4572000"/>
            <a:ext cx="155448" cy="211409"/>
          </a:xfrm>
          <a:prstGeom prst="triangle">
            <a:avLst/>
          </a:prstGeom>
          <a:solidFill>
            <a:srgbClr val="0F1626"/>
          </a:solidFill>
          <a:ln w="25400">
            <a:solidFill>
              <a:srgbClr val="F2822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558284" y="4783409"/>
            <a:ext cx="18288" cy="99487"/>
          </a:xfrm>
          <a:prstGeom prst="line">
            <a:avLst/>
          </a:prstGeom>
          <a:noFill/>
          <a:ln w="25400">
            <a:solidFill>
              <a:srgbClr val="F2822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539630" y="4531584"/>
            <a:ext cx="37308" cy="37308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64" name="Shape 62"/>
          <p:cNvSpPr/>
          <p:nvPr/>
        </p:nvSpPr>
        <p:spPr>
          <a:xfrm>
            <a:off x="4901184" y="4572000"/>
            <a:ext cx="155448" cy="211409"/>
          </a:xfrm>
          <a:prstGeom prst="triangle">
            <a:avLst/>
          </a:prstGeom>
          <a:solidFill>
            <a:srgbClr val="0F1626"/>
          </a:solidFill>
          <a:ln w="25400">
            <a:solidFill>
              <a:srgbClr val="F2822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978908" y="4783409"/>
            <a:ext cx="18288" cy="99487"/>
          </a:xfrm>
          <a:prstGeom prst="line">
            <a:avLst/>
          </a:prstGeom>
          <a:noFill/>
          <a:ln w="25400">
            <a:solidFill>
              <a:srgbClr val="F2822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960254" y="4531584"/>
            <a:ext cx="37308" cy="37308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67" name="Shape 65"/>
          <p:cNvSpPr/>
          <p:nvPr/>
        </p:nvSpPr>
        <p:spPr>
          <a:xfrm>
            <a:off x="5321808" y="4572000"/>
            <a:ext cx="155448" cy="211409"/>
          </a:xfrm>
          <a:prstGeom prst="triangle">
            <a:avLst/>
          </a:prstGeom>
          <a:solidFill>
            <a:srgbClr val="0F1626"/>
          </a:solidFill>
          <a:ln w="25400">
            <a:solidFill>
              <a:srgbClr val="F2822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399532" y="4783409"/>
            <a:ext cx="18288" cy="99487"/>
          </a:xfrm>
          <a:prstGeom prst="line">
            <a:avLst/>
          </a:prstGeom>
          <a:noFill/>
          <a:ln w="25400">
            <a:solidFill>
              <a:srgbClr val="F2822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380878" y="4531584"/>
            <a:ext cx="37308" cy="37308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70" name="Shape 68"/>
          <p:cNvSpPr/>
          <p:nvPr/>
        </p:nvSpPr>
        <p:spPr>
          <a:xfrm>
            <a:off x="5742432" y="4572000"/>
            <a:ext cx="155448" cy="211409"/>
          </a:xfrm>
          <a:prstGeom prst="triangle">
            <a:avLst/>
          </a:prstGeom>
          <a:solidFill>
            <a:srgbClr val="0F1626"/>
          </a:solidFill>
          <a:ln w="25400">
            <a:solidFill>
              <a:srgbClr val="F2822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820156" y="4783409"/>
            <a:ext cx="18288" cy="99487"/>
          </a:xfrm>
          <a:prstGeom prst="line">
            <a:avLst/>
          </a:prstGeom>
          <a:noFill/>
          <a:ln w="25400">
            <a:solidFill>
              <a:srgbClr val="F2822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801502" y="4531584"/>
            <a:ext cx="37308" cy="37308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795528" y="50749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→ access link → PA → PA-uplink → AGG → AGG-uplink → core</a:t>
            </a:r>
            <a:endParaRPr lang="en-US" sz="900" dirty="0"/>
          </a:p>
        </p:txBody>
      </p:sp>
      <p:sp>
        <p:nvSpPr>
          <p:cNvPr id="74" name="Text 72"/>
          <p:cNvSpPr txBox="1"/>
          <p:nvPr/>
        </p:nvSpPr>
        <p:spPr>
          <a:xfrm>
            <a:off x="6766560" y="1828800"/>
            <a:ext cx="485820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link: serves 1 site (fibre or microwave)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uplink: serves a whole cluster (~18 sites)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 uplink: serves a whole region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PA-uplink fault degrades ~18 sites at once — that is the common-cause signature the analytics keys on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redundant paths: a fault has a clean, known blast radius to score against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sectors × 1–3 carriers per site; band plan by morphology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 ISOLATION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56A6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38404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6809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Statistical, ML and graph — explainable first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566928" y="1700784"/>
            <a:ext cx="11057839" cy="502920"/>
          </a:xfrm>
          <a:prstGeom prst="roundRect">
            <a:avLst>
              <a:gd name="adj" fmla="val 14545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0078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Baselining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035808" y="1700784"/>
            <a:ext cx="8406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trailing median + inter-decile range; morphology + load peer-group z-scores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276856"/>
            <a:ext cx="11057839" cy="502920"/>
          </a:xfrm>
          <a:prstGeom prst="roundRect">
            <a:avLst>
              <a:gd name="adj" fmla="val 14545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27685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scoring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035808" y="2276856"/>
            <a:ext cx="8406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multi-criteria composite; session- and user-impacted weighting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2852928"/>
            <a:ext cx="11057839" cy="502920"/>
          </a:xfrm>
          <a:prstGeom prst="roundRect">
            <a:avLst>
              <a:gd name="adj" fmla="val 14545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28529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035808" y="2852928"/>
            <a:ext cx="8406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∪ LightGBM (gradient-boosted trees) + SHAP; isotonic-calibrated ensemble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429000"/>
            <a:ext cx="11057839" cy="502920"/>
          </a:xfrm>
          <a:prstGeom prst="roundRect">
            <a:avLst>
              <a:gd name="adj" fmla="val 14545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3429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035808" y="3429000"/>
            <a:ext cx="8406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residual + Isolation Forest + PCA reconstruction error; time + topology clustering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4005072"/>
            <a:ext cx="11057839" cy="502920"/>
          </a:xfrm>
          <a:prstGeom prst="roundRect">
            <a:avLst>
              <a:gd name="adj" fmla="val 14545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00507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035808" y="4005072"/>
            <a:ext cx="8406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Spearman, partial correlation (precision matrix), lead / lag cross-correlation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581144"/>
            <a:ext cx="11057839" cy="502920"/>
          </a:xfrm>
          <a:prstGeom prst="roundRect">
            <a:avLst>
              <a:gd name="adj" fmla="val 14545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458114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Variability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035808" y="4581144"/>
            <a:ext cx="8406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components, coefficient of variation, PSI drift (week over week)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5157216"/>
            <a:ext cx="11057839" cy="502920"/>
          </a:xfrm>
          <a:prstGeom prst="roundRect">
            <a:avLst>
              <a:gd name="adj" fmla="val 14545"/>
            </a:avLst>
          </a:prstGeom>
          <a:solidFill>
            <a:srgbClr val="1A2740"/>
          </a:solidFill>
          <a:ln w="9525">
            <a:solidFill>
              <a:srgbClr val="31416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" y="515721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035808" y="5157216"/>
            <a:ext cx="8406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transport graph + minimal hitting set (Noisy-OR fault localisation)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5779008"/>
            <a:ext cx="11057839" cy="502920"/>
          </a:xfrm>
          <a:prstGeom prst="roundRect">
            <a:avLst>
              <a:gd name="adj" fmla="val 16364"/>
            </a:avLst>
          </a:prstGeom>
          <a:solidFill>
            <a:srgbClr val="0B1220"/>
          </a:solidFill>
          <a:ln w="12700">
            <a:solidFill>
              <a:srgbClr val="F2822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" y="5779008"/>
            <a:ext cx="10692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first: hand rules + SHAP + plain-English evidence.   No LLM in the runtime.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 ISOLATION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56A6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38404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6809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overview  →  the priority list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549597" y="1737360"/>
            <a:ext cx="7075542" cy="4480560"/>
          </a:xfrm>
          <a:prstGeom prst="roundRect">
            <a:avLst>
              <a:gd name="adj" fmla="val 612"/>
            </a:avLst>
          </a:prstGeom>
          <a:solidFill>
            <a:srgbClr val="223251"/>
          </a:solidFill>
          <a:ln w="12700">
            <a:solidFill>
              <a:srgbClr val="31416C"/>
            </a:solidFill>
            <a:prstDash val="solid"/>
          </a:ln>
        </p:spPr>
      </p:sp>
      <p:pic>
        <p:nvPicPr>
          <p:cNvPr id="8" name="Image 0" descr="img/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317" y="1783080"/>
            <a:ext cx="6984102" cy="43891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66928" y="622706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Overview — site map coloured by attributed cause, KPI tiles vs baseline, attribution split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863840" y="2100956"/>
            <a:ext cx="3806647" cy="2244609"/>
          </a:xfrm>
          <a:prstGeom prst="roundRect">
            <a:avLst>
              <a:gd name="adj" fmla="val 1222"/>
            </a:avLst>
          </a:prstGeom>
          <a:solidFill>
            <a:srgbClr val="223251"/>
          </a:solidFill>
          <a:ln w="12700">
            <a:solidFill>
              <a:srgbClr val="31416C"/>
            </a:solidFill>
            <a:prstDash val="solid"/>
          </a:ln>
        </p:spPr>
      </p:sp>
      <p:pic>
        <p:nvPicPr>
          <p:cNvPr id="11" name="Image 1" descr="img/prior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2146676"/>
            <a:ext cx="3715207" cy="215316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909560" y="4846320"/>
            <a:ext cx="3715207" cy="475488"/>
          </a:xfrm>
          <a:prstGeom prst="roundRect">
            <a:avLst>
              <a:gd name="adj" fmla="val 17308"/>
            </a:avLst>
          </a:prstGeom>
          <a:solidFill>
            <a:srgbClr val="0B1220"/>
          </a:solidFill>
          <a:ln w="12700">
            <a:solidFill>
              <a:srgbClr val="56A6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037576" y="4846320"/>
            <a:ext cx="34591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top 75–100  ·  filter by cause / region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909560" y="5413248"/>
            <a:ext cx="3715207" cy="475488"/>
          </a:xfrm>
          <a:prstGeom prst="roundRect">
            <a:avLst>
              <a:gd name="adj" fmla="val 17308"/>
            </a:avLst>
          </a:prstGeom>
          <a:solidFill>
            <a:srgbClr val="0B1220"/>
          </a:solidFill>
          <a:ln w="12700">
            <a:solidFill>
              <a:srgbClr val="F2822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037576" y="5413248"/>
            <a:ext cx="34591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export to the Phase-2 audit list (.xlsx)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7909560" y="5998464"/>
            <a:ext cx="37152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Sites — the ranked audit shortlist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 ISOLATION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56A6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38404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6809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site — why this attribution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521208" y="1787103"/>
            <a:ext cx="5852160" cy="4518233"/>
          </a:xfrm>
          <a:prstGeom prst="roundRect">
            <a:avLst>
              <a:gd name="adj" fmla="val 607"/>
            </a:avLst>
          </a:prstGeom>
          <a:solidFill>
            <a:srgbClr val="223251"/>
          </a:solidFill>
          <a:ln w="12700">
            <a:solidFill>
              <a:srgbClr val="31416C"/>
            </a:solidFill>
            <a:prstDash val="solid"/>
          </a:ln>
        </p:spPr>
      </p:sp>
      <p:pic>
        <p:nvPicPr>
          <p:cNvPr id="8" name="Image 0" descr="img/site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32823"/>
            <a:ext cx="5760720" cy="442679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66928" y="636422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Detail — S00178, transport-attributed, confidence 0.98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37960" y="1828800"/>
            <a:ext cx="5086807" cy="877824"/>
          </a:xfrm>
          <a:prstGeom prst="roundRect">
            <a:avLst>
              <a:gd name="adj" fmla="val 8333"/>
            </a:avLst>
          </a:prstGeom>
          <a:solidFill>
            <a:srgbClr val="1A2740"/>
          </a:solidFill>
          <a:ln w="9525">
            <a:solidFill>
              <a:srgbClr val="F2822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739128" y="1920240"/>
            <a:ext cx="46844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evidence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6739128" y="2240280"/>
            <a:ext cx="46844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plain-English, threshold-triggered — no model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537960" y="2880360"/>
            <a:ext cx="5086807" cy="877824"/>
          </a:xfrm>
          <a:prstGeom prst="roundRect">
            <a:avLst>
              <a:gd name="adj" fmla="val 8333"/>
            </a:avLst>
          </a:prstGeom>
          <a:solidFill>
            <a:srgbClr val="1A2740"/>
          </a:solidFill>
          <a:ln w="9525">
            <a:solidFill>
              <a:srgbClr val="56A6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39128" y="2971800"/>
            <a:ext cx="46844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739128" y="3291840"/>
            <a:ext cx="46844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features drove the call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537960" y="3931920"/>
            <a:ext cx="5086807" cy="877824"/>
          </a:xfrm>
          <a:prstGeom prst="roundRect">
            <a:avLst>
              <a:gd name="adj" fmla="val 8333"/>
            </a:avLst>
          </a:prstGeom>
          <a:solidFill>
            <a:srgbClr val="1A2740"/>
          </a:solidFill>
          <a:ln w="9525">
            <a:solidFill>
              <a:srgbClr val="45C48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739128" y="4023360"/>
            <a:ext cx="46844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5C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vs Transport panels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6739128" y="4343400"/>
            <a:ext cx="46844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side, with anomaly markers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537960" y="4983480"/>
            <a:ext cx="5086807" cy="877824"/>
          </a:xfrm>
          <a:prstGeom prst="roundRect">
            <a:avLst>
              <a:gd name="adj" fmla="val 8333"/>
            </a:avLst>
          </a:prstGeom>
          <a:solidFill>
            <a:srgbClr val="1A2740"/>
          </a:solidFill>
          <a:ln w="9525">
            <a:solidFill>
              <a:srgbClr val="AE82E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739128" y="5074920"/>
            <a:ext cx="46844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E8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(demo)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6739128" y="5394960"/>
            <a:ext cx="46844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injected fault, so you can check it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 ISOLATION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F282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38404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SCENARIO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6809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08:10 — a monsoon fibre event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3986" y="1691640"/>
            <a:ext cx="5792364" cy="4206240"/>
          </a:xfrm>
          <a:prstGeom prst="roundRect">
            <a:avLst>
              <a:gd name="adj" fmla="val 652"/>
            </a:avLst>
          </a:prstGeom>
          <a:solidFill>
            <a:srgbClr val="223251"/>
          </a:solidFill>
          <a:ln w="12700">
            <a:solidFill>
              <a:srgbClr val="31416C"/>
            </a:solidFill>
            <a:prstDash val="solid"/>
          </a:ln>
        </p:spPr>
      </p:sp>
      <p:pic>
        <p:nvPicPr>
          <p:cNvPr id="8" name="Image 0" descr="img/incid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706" y="1737360"/>
            <a:ext cx="5700924" cy="411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03720" y="1755648"/>
            <a:ext cx="310896" cy="31089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F2822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03720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342632" y="1737360"/>
            <a:ext cx="4263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342632" y="1993392"/>
            <a:ext cx="42638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3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Transport-attributed count jumps overnight; an orange cluster appears in region R2 on the map.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6903720" y="2551176"/>
            <a:ext cx="310896" cy="31089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F2822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03720" y="2551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342632" y="2532888"/>
            <a:ext cx="4263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Sites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7342632" y="2788920"/>
            <a:ext cx="42638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3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 ‘transport’ — the top rows share region R2 and an 08:00–14:00 worst window. Note S00178.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6903720" y="3346704"/>
            <a:ext cx="310896" cy="31089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F2822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03720" y="3346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342632" y="3328416"/>
            <a:ext cx="4263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Detail (S00178)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342632" y="3584448"/>
            <a:ext cx="42638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3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panel spikes (TWAMP loss +12.7σ, SevOne queue +17.5σ); radio flat; client-RTT up, server-RTT flat; 60 % of sibling sites also degraded. Confidence 0.98.</a:t>
            </a:r>
            <a:endParaRPr lang="en-US" sz="830" dirty="0"/>
          </a:p>
        </p:txBody>
      </p:sp>
      <p:sp>
        <p:nvSpPr>
          <p:cNvPr id="21" name="Shape 18"/>
          <p:cNvSpPr/>
          <p:nvPr/>
        </p:nvSpPr>
        <p:spPr>
          <a:xfrm>
            <a:off x="6903720" y="4142232"/>
            <a:ext cx="310896" cy="31089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F2822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903720" y="4142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342632" y="4123944"/>
            <a:ext cx="4263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Paths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7342632" y="4379976"/>
            <a:ext cx="42638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3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S00178's PA-uplink shows 6.6 % loss; almost every sibling on it is orange → the fault is the link, not 19 sites.</a:t>
            </a:r>
            <a:endParaRPr lang="en-US" sz="830" dirty="0"/>
          </a:p>
        </p:txBody>
      </p:sp>
      <p:sp>
        <p:nvSpPr>
          <p:cNvPr id="25" name="Shape 22"/>
          <p:cNvSpPr/>
          <p:nvPr/>
        </p:nvSpPr>
        <p:spPr>
          <a:xfrm>
            <a:off x="6903720" y="4937760"/>
            <a:ext cx="310896" cy="31089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F2822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903720" y="4937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342632" y="4919472"/>
            <a:ext cx="4263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/ RCA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7342632" y="5175504"/>
            <a:ext cx="42638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3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localised: ‘shared transport fault → 1 link, explains 100 %, matched INC005’. Action: inspect the fibre span / Rx power.</a:t>
            </a:r>
            <a:endParaRPr lang="en-US" sz="830" dirty="0"/>
          </a:p>
        </p:txBody>
      </p:sp>
      <p:sp>
        <p:nvSpPr>
          <p:cNvPr id="29" name="Shape 26"/>
          <p:cNvSpPr/>
          <p:nvPr/>
        </p:nvSpPr>
        <p:spPr>
          <a:xfrm>
            <a:off x="6903720" y="5733288"/>
            <a:ext cx="310896" cy="31089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F2822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903720" y="5733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342632" y="5715000"/>
            <a:ext cx="4263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7342632" y="5971032"/>
            <a:ext cx="42638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3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R2 cluster to the field team as one audit item — the link — with the recommended checks.</a:t>
            </a:r>
            <a:endParaRPr lang="en-US" sz="83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&amp; TRANSPORT ISOLATION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45C48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38404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5C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OPERATE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6809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F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Standalone, controllable, explainable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3472586" cy="3200400"/>
          </a:xfrm>
          <a:prstGeom prst="roundRect">
            <a:avLst>
              <a:gd name="adj" fmla="val 2286"/>
            </a:avLst>
          </a:prstGeom>
          <a:solidFill>
            <a:srgbClr val="1A2740"/>
          </a:solidFill>
          <a:ln w="9525">
            <a:solidFill>
              <a:srgbClr val="56A6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938528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395728"/>
            <a:ext cx="307025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93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 / service assurance — daily triage</a:t>
            </a:r>
            <a:endParaRPr lang="en-US" sz="93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93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transport ops — target the link</a:t>
            </a:r>
            <a:endParaRPr lang="en-US" sz="93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93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optimisation — filter transport noise</a:t>
            </a:r>
            <a:endParaRPr lang="en-US" sz="93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93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— recurring congestion → upgrades</a:t>
            </a:r>
            <a:endParaRPr lang="en-US" sz="93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93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audit team — the prioritised list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4359554" y="1783080"/>
            <a:ext cx="3472586" cy="3200400"/>
          </a:xfrm>
          <a:prstGeom prst="roundRect">
            <a:avLst>
              <a:gd name="adj" fmla="val 2286"/>
            </a:avLst>
          </a:prstGeom>
          <a:solidFill>
            <a:srgbClr val="1A2740"/>
          </a:solidFill>
          <a:ln w="9525">
            <a:solidFill>
              <a:srgbClr val="45C48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60722" y="1938528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5C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control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60722" y="2395728"/>
            <a:ext cx="307025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93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 — or native (uv + Node)</a:t>
            </a:r>
            <a:endParaRPr lang="en-US" sz="93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93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dashboard on :8000; SQLite only</a:t>
            </a:r>
            <a:endParaRPr lang="en-US" sz="93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93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/ Linux; VS Code tasks included</a:t>
            </a:r>
            <a:endParaRPr lang="en-US" sz="93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93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Generation page: presets, distributions, labelled incidents, live progress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8152181" y="1783080"/>
            <a:ext cx="3472586" cy="3200400"/>
          </a:xfrm>
          <a:prstGeom prst="roundRect">
            <a:avLst>
              <a:gd name="adj" fmla="val 2286"/>
            </a:avLst>
          </a:prstGeom>
          <a:solidFill>
            <a:srgbClr val="1A2740"/>
          </a:solidFill>
          <a:ln w="9525">
            <a:solidFill>
              <a:srgbClr val="F2822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3349" y="1938528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353349" y="2395728"/>
            <a:ext cx="307025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93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‘none’ = degraded, cause unclear — don't dispatch</a:t>
            </a:r>
            <a:endParaRPr lang="en-US" sz="93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93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 → corroborate on Transport Paths</a:t>
            </a:r>
            <a:endParaRPr lang="en-US" sz="93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93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→ run generate + analytics</a:t>
            </a:r>
            <a:endParaRPr lang="en-US" sz="93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93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from a laptop → bind 0.0.0.0 + open port</a:t>
            </a:r>
            <a:endParaRPr lang="en-US" sz="93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930" dirty="0">
                <a:solidFill>
                  <a:srgbClr val="D4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 → fewer sites / days</a:t>
            </a:r>
            <a:endParaRPr lang="en-US" sz="93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669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github.com/manjunathsept11/ran-transport-isolation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6016752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in the repo:  README  ·  DASHBOARD_GUIDE  ·  METHODS  ·  DATA_GENERATION  ·  INSTALL_VM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 &amp; Transport Isolation Module</dc:title>
  <dc:subject>PptxGenJS Presentation</dc:subject>
  <dc:creator>RAN &amp; Transport Isolation</dc:creator>
  <cp:lastModifiedBy>RAN &amp; Transport Isolation</cp:lastModifiedBy>
  <cp:revision>1</cp:revision>
  <dcterms:created xsi:type="dcterms:W3CDTF">2026-09-02T16:18:22Z</dcterms:created>
  <dcterms:modified xsi:type="dcterms:W3CDTF">2026-09-02T16:18:22Z</dcterms:modified>
</cp:coreProperties>
</file>